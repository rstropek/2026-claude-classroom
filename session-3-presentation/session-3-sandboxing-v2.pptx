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9ebdb95bfd045ae" /><Relationship Type="http://schemas.openxmlformats.org/officeDocument/2006/relationships/extended-properties" Target="/docProps/app.xml" Id="R7f6b4c5c3a4d4857" /><Relationship Type="http://schemas.openxmlformats.org/officeDocument/2006/relationships/officeDocument" Target="/ppt/presentation.xml" Id="Rf3bcc79a5a74473f" /></Relationships>
</file>

<file path=ppt/presentation.xml><?xml version="1.0" encoding="utf-8"?>
<p:presentation xmlns:p="http://schemas.openxmlformats.org/presentationml/2006/main">
  <p:sldMasterIdLst>
    <p:sldMasterId xmlns:r="http://schemas.openxmlformats.org/officeDocument/2006/relationships" id="2147483648" r:id="Rec0d7fa2c44a47a1"/>
  </p:sldMasterIdLst>
  <p:notesMasterIdLst>
    <p:notesMasterId xmlns:r="http://schemas.openxmlformats.org/officeDocument/2006/relationships" r:id="Rb3dc9ad75ba14743"/>
  </p:notesMasterIdLst>
  <p:sldIdLst>
    <p:sldId xmlns:r="http://schemas.openxmlformats.org/officeDocument/2006/relationships" id="256" r:id="R19f4019f867040b0"/>
    <p:sldId xmlns:r="http://schemas.openxmlformats.org/officeDocument/2006/relationships" id="257" r:id="Rc5a1ceb6464f452b"/>
    <p:sldId xmlns:r="http://schemas.openxmlformats.org/officeDocument/2006/relationships" id="258" r:id="R253487f86ce2473f"/>
    <p:sldId xmlns:r="http://schemas.openxmlformats.org/officeDocument/2006/relationships" id="259" r:id="Rbf0d909a14894e6e"/>
    <p:sldId xmlns:r="http://schemas.openxmlformats.org/officeDocument/2006/relationships" id="260" r:id="R2ad8760853304a76"/>
    <p:sldId xmlns:r="http://schemas.openxmlformats.org/officeDocument/2006/relationships" id="261" r:id="Rdf7c802dcdfe49ff"/>
    <p:sldId xmlns:r="http://schemas.openxmlformats.org/officeDocument/2006/relationships" id="262" r:id="Rf66bbf070d7c41a7"/>
    <p:sldId xmlns:r="http://schemas.openxmlformats.org/officeDocument/2006/relationships" id="263" r:id="R4924d29ed80a4ff4"/>
    <p:sldId xmlns:r="http://schemas.openxmlformats.org/officeDocument/2006/relationships" id="264" r:id="Rde85addd161348dc"/>
    <p:sldId xmlns:r="http://schemas.openxmlformats.org/officeDocument/2006/relationships" id="265" r:id="Rdda1bb89ef874520"/>
    <p:sldId xmlns:r="http://schemas.openxmlformats.org/officeDocument/2006/relationships" id="266" r:id="Rdcc4afed319d426e"/>
    <p:sldId xmlns:r="http://schemas.openxmlformats.org/officeDocument/2006/relationships" id="267" r:id="Reed24c7d80e74d7c"/>
    <p:sldId xmlns:r="http://schemas.openxmlformats.org/officeDocument/2006/relationships" id="268" r:id="R1c52670c970b4c5f"/>
    <p:sldId xmlns:r="http://schemas.openxmlformats.org/officeDocument/2006/relationships" id="269" r:id="Rd990eae2cd43499d"/>
    <p:sldId xmlns:r="http://schemas.openxmlformats.org/officeDocument/2006/relationships" id="270" r:id="R12262185b09d4d54"/>
    <p:sldId xmlns:r="http://schemas.openxmlformats.org/officeDocument/2006/relationships" id="271" r:id="Raaed22aa497e4c3b"/>
    <p:sldId xmlns:r="http://schemas.openxmlformats.org/officeDocument/2006/relationships" id="272" r:id="R5a1d3ddac52b4c02"/>
    <p:sldId xmlns:r="http://schemas.openxmlformats.org/officeDocument/2006/relationships" id="273" r:id="Ra89f437413664cec"/>
    <p:sldId xmlns:r="http://schemas.openxmlformats.org/officeDocument/2006/relationships" id="274" r:id="R5bac7a5d24584cf7"/>
    <p:sldId xmlns:r="http://schemas.openxmlformats.org/officeDocument/2006/relationships" id="275" r:id="R657e0ac7f1ca4bec"/>
    <p:sldId xmlns:r="http://schemas.openxmlformats.org/officeDocument/2006/relationships" id="276" r:id="Rfb73ba5b6a904c2c"/>
    <p:sldId xmlns:r="http://schemas.openxmlformats.org/officeDocument/2006/relationships" id="277" r:id="R8359b14ccf0c4d8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cb14da096954051" /><Relationship Type="http://schemas.openxmlformats.org/officeDocument/2006/relationships/slideMaster" Target="/ppt/slideMasters/slideMaster1.xml" Id="Rec0d7fa2c44a47a1" /><Relationship Type="http://schemas.openxmlformats.org/officeDocument/2006/relationships/notesMaster" Target="/ppt/notesMasters/notesMaster1.xml" Id="Rb3dc9ad75ba14743" /><Relationship Type="http://schemas.openxmlformats.org/officeDocument/2006/relationships/presProps" Target="/ppt/presProps.xml" Id="Re965c62cc3e84856" /><Relationship Type="http://schemas.openxmlformats.org/officeDocument/2006/relationships/tableStyles" Target="/ppt/tableStyles.xml" Id="Rca6dd103fa984ca0" /><Relationship Type="http://schemas.openxmlformats.org/officeDocument/2006/relationships/slide" Target="/ppt/slides/slide1.xml" Id="R19f4019f867040b0" /><Relationship Type="http://schemas.openxmlformats.org/officeDocument/2006/relationships/slide" Target="/ppt/slides/slide2.xml" Id="Rc5a1ceb6464f452b" /><Relationship Type="http://schemas.openxmlformats.org/officeDocument/2006/relationships/slide" Target="/ppt/slides/slide3.xml" Id="R253487f86ce2473f" /><Relationship Type="http://schemas.openxmlformats.org/officeDocument/2006/relationships/slide" Target="/ppt/slides/slide4.xml" Id="Rbf0d909a14894e6e" /><Relationship Type="http://schemas.openxmlformats.org/officeDocument/2006/relationships/slide" Target="/ppt/slides/slide5.xml" Id="R2ad8760853304a76" /><Relationship Type="http://schemas.openxmlformats.org/officeDocument/2006/relationships/slide" Target="/ppt/slides/slide6.xml" Id="Rdf7c802dcdfe49ff" /><Relationship Type="http://schemas.openxmlformats.org/officeDocument/2006/relationships/slide" Target="/ppt/slides/slide7.xml" Id="Rf66bbf070d7c41a7" /><Relationship Type="http://schemas.openxmlformats.org/officeDocument/2006/relationships/slide" Target="/ppt/slides/slide8.xml" Id="R4924d29ed80a4ff4" /><Relationship Type="http://schemas.openxmlformats.org/officeDocument/2006/relationships/slide" Target="/ppt/slides/slide9.xml" Id="Rde85addd161348dc" /><Relationship Type="http://schemas.openxmlformats.org/officeDocument/2006/relationships/slide" Target="/ppt/slides/slide10.xml" Id="Rdda1bb89ef874520" /><Relationship Type="http://schemas.openxmlformats.org/officeDocument/2006/relationships/slide" Target="/ppt/slides/slide11.xml" Id="Rdcc4afed319d426e" /><Relationship Type="http://schemas.openxmlformats.org/officeDocument/2006/relationships/slide" Target="/ppt/slides/slide12.xml" Id="Reed24c7d80e74d7c" /><Relationship Type="http://schemas.openxmlformats.org/officeDocument/2006/relationships/slide" Target="/ppt/slides/slide13.xml" Id="R1c52670c970b4c5f" /><Relationship Type="http://schemas.openxmlformats.org/officeDocument/2006/relationships/slide" Target="/ppt/slides/slide14.xml" Id="Rd990eae2cd43499d" /><Relationship Type="http://schemas.openxmlformats.org/officeDocument/2006/relationships/slide" Target="/ppt/slides/slide15.xml" Id="R12262185b09d4d54" /><Relationship Type="http://schemas.openxmlformats.org/officeDocument/2006/relationships/slide" Target="/ppt/slides/slide16.xml" Id="Raaed22aa497e4c3b" /><Relationship Type="http://schemas.openxmlformats.org/officeDocument/2006/relationships/slide" Target="/ppt/slides/slide17.xml" Id="R5a1d3ddac52b4c02" /><Relationship Type="http://schemas.openxmlformats.org/officeDocument/2006/relationships/slide" Target="/ppt/slides/slide18.xml" Id="Ra89f437413664cec" /><Relationship Type="http://schemas.openxmlformats.org/officeDocument/2006/relationships/slide" Target="/ppt/slides/slide19.xml" Id="R5bac7a5d24584cf7" /><Relationship Type="http://schemas.openxmlformats.org/officeDocument/2006/relationships/slide" Target="/ppt/slides/slide20.xml" Id="R657e0ac7f1ca4bec" /><Relationship Type="http://schemas.openxmlformats.org/officeDocument/2006/relationships/slide" Target="/ppt/slides/slide21.xml" Id="Rfb73ba5b6a904c2c" /><Relationship Type="http://schemas.openxmlformats.org/officeDocument/2006/relationships/slide" Target="/ppt/slides/slide22.xml" Id="R8359b14ccf0c4d8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4b00a8b957b4c2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971701983b14296" /><Relationship Type="http://schemas.openxmlformats.org/officeDocument/2006/relationships/notesMaster" Target="/ppt/notesMasters/notesMaster1.xml" Id="Rd339728f8ab3408f" /></Relationships>
</file>

<file path=ppt/notesSlides/_rels/notesSlide2.xml.rels>&#65279;<?xml version="1.0" encoding="utf-8"?><Relationships xmlns="http://schemas.openxmlformats.org/package/2006/relationships"><Relationship Type="http://schemas.openxmlformats.org/officeDocument/2006/relationships/slide" Target="/ppt/slides/slide2.xml" Id="R5988b81b41354150" /><Relationship Type="http://schemas.openxmlformats.org/officeDocument/2006/relationships/notesMaster" Target="/ppt/notesMasters/notesMaster1.xml" Id="R09ef66900da34b65" /></Relationships>
</file>

<file path=ppt/notesSlides/_rels/notesSlide3.xml.rels>&#65279;<?xml version="1.0" encoding="utf-8"?><Relationships xmlns="http://schemas.openxmlformats.org/package/2006/relationships"><Relationship Type="http://schemas.openxmlformats.org/officeDocument/2006/relationships/slide" Target="/ppt/slides/slide3.xml" Id="R353dd38492bc4214" /><Relationship Type="http://schemas.openxmlformats.org/officeDocument/2006/relationships/notesMaster" Target="/ppt/notesMasters/notesMaster1.xml" Id="Rdd96c84ced2d4eb4" /></Relationships>
</file>

<file path=ppt/notesSlides/_rels/notesSlide4.xml.rels>&#65279;<?xml version="1.0" encoding="utf-8"?><Relationships xmlns="http://schemas.openxmlformats.org/package/2006/relationships"><Relationship Type="http://schemas.openxmlformats.org/officeDocument/2006/relationships/slide" Target="/ppt/slides/slide4.xml" Id="R42407dc00c8b4d6c" /><Relationship Type="http://schemas.openxmlformats.org/officeDocument/2006/relationships/notesMaster" Target="/ppt/notesMasters/notesMaster1.xml" Id="R517cafcf1ee14f56" /></Relationships>
</file>

<file path=ppt/notesSlides/_rels/notesSlide5.xml.rels>&#65279;<?xml version="1.0" encoding="utf-8"?><Relationships xmlns="http://schemas.openxmlformats.org/package/2006/relationships"><Relationship Type="http://schemas.openxmlformats.org/officeDocument/2006/relationships/slide" Target="/ppt/slides/slide5.xml" Id="Ra7a36b83b54c4d5f" /><Relationship Type="http://schemas.openxmlformats.org/officeDocument/2006/relationships/notesMaster" Target="/ppt/notesMasters/notesMaster1.xml" Id="R2671d9ccc6f04c17" /></Relationships>
</file>

<file path=ppt/notesSlides/_rels/notesSlide6.xml.rels>&#65279;<?xml version="1.0" encoding="utf-8"?><Relationships xmlns="http://schemas.openxmlformats.org/package/2006/relationships"><Relationship Type="http://schemas.openxmlformats.org/officeDocument/2006/relationships/slide" Target="/ppt/slides/slide6.xml" Id="R6bab922d2a2b4ee4" /><Relationship Type="http://schemas.openxmlformats.org/officeDocument/2006/relationships/notesMaster" Target="/ppt/notesMasters/notesMaster1.xml" Id="Rc9a3eebdd3a24ef7" /></Relationships>
</file>

<file path=ppt/notesSlides/_rels/notesSlide7.xml.rels>&#65279;<?xml version="1.0" encoding="utf-8"?><Relationships xmlns="http://schemas.openxmlformats.org/package/2006/relationships"><Relationship Type="http://schemas.openxmlformats.org/officeDocument/2006/relationships/slide" Target="/ppt/slides/slide7.xml" Id="Rb5ae393bd2ad4b35" /><Relationship Type="http://schemas.openxmlformats.org/officeDocument/2006/relationships/notesMaster" Target="/ppt/notesMasters/notesMaster1.xml" Id="Ra1b6888df99c4ce1" /></Relationships>
</file>

<file path=ppt/notesSlides/_rels/notesSlide8.xml.rels>&#65279;<?xml version="1.0" encoding="utf-8"?><Relationships xmlns="http://schemas.openxmlformats.org/package/2006/relationships"><Relationship Type="http://schemas.openxmlformats.org/officeDocument/2006/relationships/slide" Target="/ppt/slides/slide8.xml" Id="R1a4783f8397c4777" /><Relationship Type="http://schemas.openxmlformats.org/officeDocument/2006/relationships/notesMaster" Target="/ppt/notesMasters/notesMaster1.xml" Id="R809243d247bd408d" /></Relationships>
</file>

<file path=ppt/notesSlides/_rels/notesSlide9.xml.rels>&#65279;<?xml version="1.0" encoding="utf-8"?><Relationships xmlns="http://schemas.openxmlformats.org/package/2006/relationships"><Relationship Type="http://schemas.openxmlformats.org/officeDocument/2006/relationships/slide" Target="/ppt/slides/slide9.xml" Id="R88119bb3e38541b0" /><Relationship Type="http://schemas.openxmlformats.org/officeDocument/2006/relationships/notesMaster" Target="/ppt/notesMasters/notesMaster1.xml" Id="R6530a3be6657471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df19720e3fd4850" /><Relationship Type="http://schemas.openxmlformats.org/officeDocument/2006/relationships/notesMaster" Target="/ppt/notesMasters/notesMaster1.xml" Id="Rf91dbe321d94471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af3807694db4b12" /><Relationship Type="http://schemas.openxmlformats.org/officeDocument/2006/relationships/notesMaster" Target="/ppt/notesMasters/notesMaster1.xml" Id="Rd49ee8e47a1d4d8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9b8563e5d67461d" /><Relationship Type="http://schemas.openxmlformats.org/officeDocument/2006/relationships/notesMaster" Target="/ppt/notesMasters/notesMaster1.xml" Id="Rf1b6be8b951e4d9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7478c19d1934874" /><Relationship Type="http://schemas.openxmlformats.org/officeDocument/2006/relationships/notesMaster" Target="/ppt/notesMasters/notesMaster1.xml" Id="R7ab6b308e1b4427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e884c15718b4242" /><Relationship Type="http://schemas.openxmlformats.org/officeDocument/2006/relationships/notesMaster" Target="/ppt/notesMasters/notesMaster1.xml" Id="R6b1a01f8ff6141f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1dd397e38d84837" /><Relationship Type="http://schemas.openxmlformats.org/officeDocument/2006/relationships/notesMaster" Target="/ppt/notesMasters/notesMaster1.xml" Id="R067553d4d0f143f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e7fbb373e264e59" /><Relationship Type="http://schemas.openxmlformats.org/officeDocument/2006/relationships/notesMaster" Target="/ppt/notesMasters/notesMaster1.xml" Id="R582a0fc592f24ae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f1ee5d400cc4fe6" /><Relationship Type="http://schemas.openxmlformats.org/officeDocument/2006/relationships/notesMaster" Target="/ppt/notesMasters/notesMaster1.xml" Id="Rf45cf52c4bea4bd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3764241f7a848b1" /><Relationship Type="http://schemas.openxmlformats.org/officeDocument/2006/relationships/notesMaster" Target="/ppt/notesMasters/notesMaster1.xml" Id="Rd7dc0eb239034de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32ad8894319412b" /><Relationship Type="http://schemas.openxmlformats.org/officeDocument/2006/relationships/notesMaster" Target="/ppt/notesMasters/notesMaster1.xml" Id="R4d9ce556ac9b4d0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68f2bdf780e45ae" /><Relationship Type="http://schemas.openxmlformats.org/officeDocument/2006/relationships/notesMaster" Target="/ppt/notesMasters/notesMaster1.xml" Id="R5d82b9cbc8714d0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f4daa00796c40f1" /><Relationship Type="http://schemas.openxmlformats.org/officeDocument/2006/relationships/notesMaster" Target="/ppt/notesMasters/notesMaster1.xml" Id="Ra87409d2b72c45c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263c1a0ffc549a2" /><Relationship Type="http://schemas.openxmlformats.org/officeDocument/2006/relationships/notesMaster" Target="/ppt/notesMasters/notesMaster1.xml" Id="Rd9dd246e27e24ff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discussion: 1 min. Optional live demonstration time is additional.</a:t>
            </a:r>
          </a:p>
          <a:p xmlns:a="http://schemas.openxmlformats.org/drawingml/2006/main">
            <a:r>
              <a:t/>
            </a:r>
          </a:p>
          <a:p xmlns:a="http://schemas.openxmlformats.org/drawingml/2006/main">
            <a:r>
              <a:t>Introduce this as the sandboxing segment of session 3, not the full four-hour session. The course also covers MCP integration and the application agent’s own harness. Plan about 42 minutes of explanation and discussion, plus three optional demonstrations of roughly 3 minutes each. The examples deliberately use disposable data. The position on infrastructure is the presenter’s architectural preference, not a claim that Claude Code has no useful security controls.</a:t>
            </a:r>
          </a:p>
          <a:p xmlns:a="http://schemas.openxmlformats.org/drawingml/2006/main">
            <a:r>
              <a:t/>
            </a:r>
          </a:p>
          <a:p xmlns:a="http://schemas.openxmlformats.org/drawingml/2006/main">
            <a:r>
              <a:t>Sources (accessed 13 September 2026):</a:t>
            </a:r>
          </a:p>
          <a:p xmlns:a="http://schemas.openxmlformats.org/drawingml/2006/main">
            <a:r>
              <a:t>https://heise-academy.de/kurs/classroom-agentische-entwicklung-mit-claude-code-mastra-u-0adbea</a:t>
            </a:r>
          </a:p>
          <a:p xmlns:a="http://schemas.openxmlformats.org/drawingml/2006/main">
            <a:r>
              <a:t>https://code.claude.com/llms.txt</a:t>
            </a:r>
          </a:p>
          <a:p xmlns:a="http://schemas.openxmlformats.org/drawingml/2006/main">
            <a:r>
              <a:t/>
            </a:r>
          </a:p>
          <a:p xmlns:a="http://schemas.openxmlformats.org/drawingml/2006/main">
            <a:r>
              <a:t>Product behavior follows the documentation available on the research date. Recheck the installed version and effective policy before teaching configuration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discussion: 2 min. Optional live demonstration time is additional.</a:t>
            </a:r>
          </a:p>
          <a:p xmlns:a="http://schemas.openxmlformats.org/drawingml/2006/main">
            <a:r>
              <a:t/>
            </a:r>
          </a:p>
          <a:p xmlns:a="http://schemas.openxmlformats.org/drawingml/2006/main">
            <a:r>
              <a:t>Make the core message explicit before the feature tour. Claude Code has a substantial set of controls. Learners should understand the categories and ask Claude to produce a configuration for their real environment, then review and test it. My preference in mixed-tool teams is to own the main boundary in infrastructure. This reduces dependence on one coding tool’s settings and semantics. It still leaves operational work and infrastructure dependencies. Built-in restrictions can remain useful inside the outer environment.</a:t>
            </a:r>
          </a:p>
          <a:p xmlns:a="http://schemas.openxmlformats.org/drawingml/2006/main">
            <a:r>
              <a:t/>
            </a:r>
          </a:p>
          <a:p xmlns:a="http://schemas.openxmlformats.org/drawingml/2006/main">
            <a:r>
              <a:t>Sources (accessed 13 September 2026):</a:t>
            </a:r>
          </a:p>
          <a:p xmlns:a="http://schemas.openxmlformats.org/drawingml/2006/main">
            <a:r>
              <a:t/>
            </a:r>
          </a:p>
          <a:p xmlns:a="http://schemas.openxmlformats.org/drawingml/2006/main">
            <a:r>
              <a:t/>
            </a:r>
          </a:p>
          <a:p xmlns:a="http://schemas.openxmlformats.org/drawingml/2006/main">
            <a:r>
              <a:t>Product behavior follows the documentation available on the research date. Recheck the installed version and effective policy before teaching configuration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discussion: 2 min. Optional live demonstration time is additional.</a:t>
            </a:r>
          </a:p>
          <a:p xmlns:a="http://schemas.openxmlformats.org/drawingml/2006/main">
            <a:r>
              <a:t/>
            </a:r>
          </a:p>
          <a:p xmlns:a="http://schemas.openxmlformats.org/drawingml/2006/main">
            <a:r>
              <a:t>Use a hypothetical package installation as the concrete example. A repository, tool result, or dependency can contain hostile content, and scripts can execute independently of the model. A model can also simply make a mistake. Ask the audience which resources a compromised build process could reach today. A boundary should limit impact even after an action has been allowed. Review remains necessary for legitimate but damaging changes within the authorized workspace.</a:t>
            </a:r>
          </a:p>
          <a:p xmlns:a="http://schemas.openxmlformats.org/drawingml/2006/main">
            <a:r>
              <a:t/>
            </a:r>
          </a:p>
          <a:p xmlns:a="http://schemas.openxmlformats.org/drawingml/2006/main">
            <a:r>
              <a:t>Sources (accessed 13 September 2026):</a:t>
            </a:r>
          </a:p>
          <a:p xmlns:a="http://schemas.openxmlformats.org/drawingml/2006/main">
            <a:r>
              <a:t>https://code.claude.com/docs/en/security</a:t>
            </a:r>
          </a:p>
          <a:p xmlns:a="http://schemas.openxmlformats.org/drawingml/2006/main">
            <a:r>
              <a:t>https://code.claude.com/docs/en/agent-sdk/secure-deployment</a:t>
            </a:r>
          </a:p>
          <a:p xmlns:a="http://schemas.openxmlformats.org/drawingml/2006/main">
            <a:r>
              <a:t/>
            </a:r>
          </a:p>
          <a:p xmlns:a="http://schemas.openxmlformats.org/drawingml/2006/main">
            <a:r>
              <a:t>Product behavior follows the documentation available on the research date. Recheck the installed version and effective policy before teaching configuration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discussion: 2 min. Optional live demonstration time is additional.</a:t>
            </a:r>
          </a:p>
          <a:p xmlns:a="http://schemas.openxmlformats.org/drawingml/2006/main">
            <a:r>
              <a:t/>
            </a:r>
          </a:p>
          <a:p xmlns:a="http://schemas.openxmlformats.org/drawingml/2006/main">
            <a:r>
              <a:t>Keep these layers separate throughout the presentation. Instructions influence behavior. The harness gates tool invocation. The operating system or infrastructure constrains execution. The target service checks authorization. A permission approval does not change a container mount or remote account role. A network allowlist does not grant a repository permission. Learners should be able to locate a control at the layer that actually enforces it.</a:t>
            </a:r>
          </a:p>
          <a:p xmlns:a="http://schemas.openxmlformats.org/drawingml/2006/main">
            <a:r>
              <a:t/>
            </a:r>
          </a:p>
          <a:p xmlns:a="http://schemas.openxmlformats.org/drawingml/2006/main">
            <a:r>
              <a:t>Sources (accessed 13 September 2026):</a:t>
            </a:r>
          </a:p>
          <a:p xmlns:a="http://schemas.openxmlformats.org/drawingml/2006/main">
            <a:r>
              <a:t>https://code.claude.com/docs/en/permissions</a:t>
            </a:r>
          </a:p>
          <a:p xmlns:a="http://schemas.openxmlformats.org/drawingml/2006/main">
            <a:r>
              <a:t>https://code.claude.com/docs/en/sandbox-environments</a:t>
            </a:r>
          </a:p>
          <a:p xmlns:a="http://schemas.openxmlformats.org/drawingml/2006/main">
            <a:r>
              <a:t>https://code.claude.com/docs/en/agent-sdk/secure-deployment</a:t>
            </a:r>
          </a:p>
          <a:p xmlns:a="http://schemas.openxmlformats.org/drawingml/2006/main">
            <a:r>
              <a:t/>
            </a:r>
          </a:p>
          <a:p xmlns:a="http://schemas.openxmlformats.org/drawingml/2006/main">
            <a:r>
              <a:t>Product behavior follows the documentation available on the research date. Recheck the installed version and effective policy before teaching configuration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discussion: 2 min. Optional live demonstration time is additional.</a:t>
            </a:r>
          </a:p>
          <a:p xmlns:a="http://schemas.openxmlformats.org/drawingml/2006/main">
            <a:r>
              <a:t/>
            </a:r>
          </a:p>
          <a:p xmlns:a="http://schemas.openxmlformats.org/drawingml/2006/main">
            <a:r>
              <a:t>Start with /sandbox, then inspect the effective Config tab and dependency status. The boundary covers Bash commands and descendants, including scripts and programs launched by them. It is not a whole-session boundary. File tools use the permission system and local MCP processes and hooks need separate containment. macOS uses Seatbelt. Linux and WSL2 use bubblewrap with socat for the network relay. Native Windows and WSL1 are unsupported for this feature. Keep this distinction visible in the MCP discussion later.</a:t>
            </a:r>
          </a:p>
          <a:p xmlns:a="http://schemas.openxmlformats.org/drawingml/2006/main">
            <a:r>
              <a:t/>
            </a:r>
          </a:p>
          <a:p xmlns:a="http://schemas.openxmlformats.org/drawingml/2006/main">
            <a:r>
              <a:t>Sources (accessed 13 September 2026):</a:t>
            </a:r>
          </a:p>
          <a:p xmlns:a="http://schemas.openxmlformats.org/drawingml/2006/main">
            <a:r>
              <a:t>https://code.claude.com/docs/en/sandboxing</a:t>
            </a:r>
          </a:p>
          <a:p xmlns:a="http://schemas.openxmlformats.org/drawingml/2006/main">
            <a:r>
              <a:t>https://code.claude.com/docs/en/sandbox-environments</a:t>
            </a:r>
          </a:p>
          <a:p xmlns:a="http://schemas.openxmlformats.org/drawingml/2006/main">
            <a:r>
              <a:t/>
            </a:r>
          </a:p>
          <a:p xmlns:a="http://schemas.openxmlformats.org/drawingml/2006/main">
            <a:r>
              <a:t>Product behavior follows the documentation available on the research date. Recheck the installed version and effective policy before teaching configuration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discussion: 2 min. Optional live demonstration time is additional.</a:t>
            </a:r>
          </a:p>
          <a:p xmlns:a="http://schemas.openxmlformats.org/drawingml/2006/main">
            <a:r>
              <a:t/>
            </a:r>
          </a:p>
          <a:p xmlns:a="http://schemas.openxmlformats.org/drawingml/2006/main">
            <a:r>
              <a:t>The default read policy is broad: credential files such as the AWS credential file and SSH directory are not automatically secret-safe. Writes cover the working directory, added directories, session temporary storage and documented Git-worktree metadata exceptions. Protected configuration paths remain restricted. Explain allowRead, denyRead, allowWrite and denyWrite as policy categories rather than syntax to memorize. sandbox.credentials can deny file reads or remove environment variables. Masking substitutes placeholders and injects credentials through the proxy. TLS termination and platform differences matter: file masking substitutes on Linux/WSL2 but blocks the file on macOS. Credentials features are version-dependent (deny from v2.1.187, env masking from v2.1.199, file masking from v2.1.221).</a:t>
            </a:r>
          </a:p>
          <a:p xmlns:a="http://schemas.openxmlformats.org/drawingml/2006/main">
            <a:r>
              <a:t/>
            </a:r>
          </a:p>
          <a:p xmlns:a="http://schemas.openxmlformats.org/drawingml/2006/main">
            <a:r>
              <a:t>Sources (accessed 13 September 2026):</a:t>
            </a:r>
          </a:p>
          <a:p xmlns:a="http://schemas.openxmlformats.org/drawingml/2006/main">
            <a:r>
              <a:t>https://code.claude.com/docs/en/sandboxing</a:t>
            </a:r>
          </a:p>
          <a:p xmlns:a="http://schemas.openxmlformats.org/drawingml/2006/main">
            <a:r>
              <a:t>https://code.claude.com/docs/en/settings-reference#sandbox-settings</a:t>
            </a:r>
          </a:p>
          <a:p xmlns:a="http://schemas.openxmlformats.org/drawingml/2006/main">
            <a:r>
              <a:t/>
            </a:r>
          </a:p>
          <a:p xmlns:a="http://schemas.openxmlformats.org/drawingml/2006/main">
            <a:r>
              <a:t>Product behavior follows the documentation available on the research date. Recheck the installed version and effective policy before teaching configuration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discussion: 1 min + optional 3 min demo. Optional live demonstration time is additional.</a:t>
            </a:r>
          </a:p>
          <a:p xmlns:a="http://schemas.openxmlformats.org/drawingml/2006/main">
            <a:r>
              <a:t/>
            </a:r>
          </a:p>
          <a:p xmlns:a="http://schemas.openxmlformats.org/drawingml/2006/main">
            <a:r>
              <a:t>Optional 3-minute live demo. Use demos/README.md, Demo 1. The helper creates a disposable workspace, a denied/ folder inside it with an explicit denyWrite rule, and an unlisted sibling directory next to the workspace. Launch Claude from the workspace with the printed session settings file: failIfUnavailable true, allowUnsandboxedCommands false. Open /sandbox, Config tab: the denied/ entry appears under "Denied within allowed", next to the built-in protected paths. Paste the printed prompt so Claude runs three writes through Bash, not the ! shell prompt and not Edit/Write. Workspace write: exit 0. denied/blocked.txt: exit 1, "operation not permitted" on macOS ("Read-only file system" on Linux/WSL2). The explicit rule holds inside the otherwise writable workspace. sibling/outside.txt: the same error, this time from the default policy, because only the working directory, the session temp directory and added directories are writable. Claude must not change policy or route around the failures. Inspect from the host with the printed find command, then delete only the printed directory. If a denial appears before Bash runs, that is the permission layer, not OS enforcement. Verified 15 September 2026 with Claude Code 2.1.272 and Opus 5: each run takes about 20 seconds.</a:t>
            </a:r>
          </a:p>
          <a:p xmlns:a="http://schemas.openxmlformats.org/drawingml/2006/main">
            <a:r>
              <a:t/>
            </a:r>
          </a:p>
          <a:p xmlns:a="http://schemas.openxmlformats.org/drawingml/2006/main">
            <a:r>
              <a:t>Sources (accessed 13 September 2026):</a:t>
            </a:r>
          </a:p>
          <a:p xmlns:a="http://schemas.openxmlformats.org/drawingml/2006/main">
            <a:r>
              <a:t>https://code.claude.com/docs/en/sandboxing</a:t>
            </a:r>
          </a:p>
          <a:p xmlns:a="http://schemas.openxmlformats.org/drawingml/2006/main">
            <a:r>
              <a:t/>
            </a:r>
          </a:p>
          <a:p xmlns:a="http://schemas.openxmlformats.org/drawingml/2006/main">
            <a:r>
              <a:t>Product behavior follows the documentation available on the research date. Recheck the installed version and effective policy before teaching configuration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discussion: 2 min. Optional live demonstration time is additional.</a:t>
            </a:r>
          </a:p>
          <a:p xmlns:a="http://schemas.openxmlformats.org/drawingml/2006/main">
            <a:r>
              <a:t/>
            </a:r>
          </a:p>
          <a:p xmlns:a="http://schemas.openxmlformats.org/drawingml/2006/main">
            <a:r>
              <a:t>The sandbox routes Bash network requests through a proxy. With no pre-allowed domains, new destinations go through permission handling. allowedDomains and WebFetch domain allow rules contribute to the effective list. strictAllowlist blocks other hosts and requires user, managed or CLI settings, not repository settings (documented from v2.1.219). Managed-only domain settings can lock this down centrally. This is destination filtering. By default the proxy does not inspect encrypted request content, and Anthropic documents limitations including potential domain fronting. A broad allowed service can provide an exfiltration channel. Whole-process API traffic and remote MCP require the appropriate outer or service controls.</a:t>
            </a:r>
          </a:p>
          <a:p xmlns:a="http://schemas.openxmlformats.org/drawingml/2006/main">
            <a:r>
              <a:t/>
            </a:r>
          </a:p>
          <a:p xmlns:a="http://schemas.openxmlformats.org/drawingml/2006/main">
            <a:r>
              <a:t>Sources (accessed 13 September 2026):</a:t>
            </a:r>
          </a:p>
          <a:p xmlns:a="http://schemas.openxmlformats.org/drawingml/2006/main">
            <a:r>
              <a:t>https://code.claude.com/docs/en/sandboxing</a:t>
            </a:r>
          </a:p>
          <a:p xmlns:a="http://schemas.openxmlformats.org/drawingml/2006/main">
            <a:r>
              <a:t>https://code.claude.com/docs/en/agent-sdk/secure-deployment</a:t>
            </a:r>
          </a:p>
          <a:p xmlns:a="http://schemas.openxmlformats.org/drawingml/2006/main">
            <a:r>
              <a:t/>
            </a:r>
          </a:p>
          <a:p xmlns:a="http://schemas.openxmlformats.org/drawingml/2006/main">
            <a:r>
              <a:t>Product behavior follows the documentation available on the research date. Recheck the installed version and effective policy before teaching configuration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discussion: 1 min + optional 3 min demo. Optional live demonstration time is additional.</a:t>
            </a:r>
          </a:p>
          <a:p xmlns:a="http://schemas.openxmlformats.org/drawingml/2006/main">
            <a:r>
              <a:t/>
            </a:r>
          </a:p>
          <a:p xmlns:a="http://schemas.openxmlformats.org/drawingml/2006/main">
            <a:r>
              <a:t>Optional 3-minute live demo. Use the independent setup in demos/README.md, Demo 2. Allow example.com and set strictAllowlist in the CLI-supplied settings. Disable unsandboxed retries and inspect /sandbox Config to ensure inherited policy has not allowed example.org. Ask Claude to use Bash curl with HEAD requests to https://example.com and https://example.org, separately, without redirects, retries or policy changes. The first should reach the site. The second should receive a sandbox/proxy denial. A timeout or DNS failure alone does not prove enforcement. Send no credentials or body data. Cleanup is simply exiting Claude and deleting this demo’s disposable directory. If the network is unavailable, discuss the prepared expected result rather than pretending that a generic connection failure proves the boundary. What enforcement looks like: the allowed request first prints "HTTP/1.1 200 Connection Established" from the sandbox proxy, then the site's own HTTP/2 200 headers. The blocked request exits with curl code 56, "CONNECT tunnel failed, response 403", the header "X-Proxy-Error: blocked-by-allowlist", and a sandbox_violations block naming example.org:443. Point at the proxy line: every sandboxed connection goes through it, and the proxy decides on the hostname alone. Verified 15 September 2026 with Claude Code 2.1.272 and Opus 5: each run takes about 15 seconds. Optional second beat if time allows (README, "what strictAllowlist actually changes"): the 403 itself does not depend on strictAllowlist. With allowedDomains alone, the violation hint invites the model to re-run the command with the host listed, the Bash tool has an allowed_domains parameter for that, and in auto mode the retry runs without a prompt and succeeds. With strictAllowlist, Claude Code rejects that retry before it runs: "allowed_domains cannot widen network access in this session". That is the difference between a default the agent can extend during a task and a policy.</a:t>
            </a:r>
          </a:p>
          <a:p xmlns:a="http://schemas.openxmlformats.org/drawingml/2006/main">
            <a:r>
              <a:t/>
            </a:r>
          </a:p>
          <a:p xmlns:a="http://schemas.openxmlformats.org/drawingml/2006/main">
            <a:r>
              <a:t>Sources (accessed 13 September 2026):</a:t>
            </a:r>
          </a:p>
          <a:p xmlns:a="http://schemas.openxmlformats.org/drawingml/2006/main">
            <a:r>
              <a:t>https://code.claude.com/docs/en/sandboxing</a:t>
            </a:r>
          </a:p>
          <a:p xmlns:a="http://schemas.openxmlformats.org/drawingml/2006/main">
            <a:r>
              <a:t/>
            </a:r>
          </a:p>
          <a:p xmlns:a="http://schemas.openxmlformats.org/drawingml/2006/main">
            <a:r>
              <a:t>Product behavior follows the documentation available on the research date. Recheck the installed version and effective policy before teaching configuration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discussion: 2 min. Optional live demonstration time is additional.</a:t>
            </a:r>
          </a:p>
          <a:p xmlns:a="http://schemas.openxmlformats.org/drawingml/2006/main">
            <a:r>
              <a:t/>
            </a:r>
          </a:p>
          <a:p xmlns:a="http://schemas.openxmlformats.org/drawingml/2006/main">
            <a:r>
              <a:t>Tool rules use deny, then ask, then allow precedence. The sandbox has auto-allow and regular-permissions behavior. Both use the same isolation. Explicit deny and command-specific ask rules still apply in sandbox auto-allow, although a bare Bash ask rule has special treatment documented in the guide. The separate permission modes include default/manual, acceptEdits, plan, auto, dontAsk and bypassPermissions. Auto mode uses a classifier and is distinct from sandbox auto-allow. Plan mode and bypass have version-specific behavior, so this slide deliberately teaches the axes rather than a fragile matrix. Skipping permission prompts never creates an OS boundary. Hooks can implement extra gates, but hook processes themselves need containment.</a:t>
            </a:r>
          </a:p>
          <a:p xmlns:a="http://schemas.openxmlformats.org/drawingml/2006/main">
            <a:r>
              <a:t/>
            </a:r>
          </a:p>
          <a:p xmlns:a="http://schemas.openxmlformats.org/drawingml/2006/main">
            <a:r>
              <a:t>Sources (accessed 13 September 2026):</a:t>
            </a:r>
          </a:p>
          <a:p xmlns:a="http://schemas.openxmlformats.org/drawingml/2006/main">
            <a:r>
              <a:t>https://code.claude.com/docs/en/permissions</a:t>
            </a:r>
          </a:p>
          <a:p xmlns:a="http://schemas.openxmlformats.org/drawingml/2006/main">
            <a:r>
              <a:t>https://code.claude.com/docs/en/permission-modes</a:t>
            </a:r>
          </a:p>
          <a:p xmlns:a="http://schemas.openxmlformats.org/drawingml/2006/main">
            <a:r>
              <a:t>https://code.claude.com/docs/en/sandboxing</a:t>
            </a:r>
          </a:p>
          <a:p xmlns:a="http://schemas.openxmlformats.org/drawingml/2006/main">
            <a:r>
              <a:t/>
            </a:r>
          </a:p>
          <a:p xmlns:a="http://schemas.openxmlformats.org/drawingml/2006/main">
            <a:r>
              <a:t>Product behavior follows the documentation available on the research date. Recheck the installed version and effective policy before teaching configuration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discussion: 2 min. Optional live demonstration time is additional.</a:t>
            </a:r>
          </a:p>
          <a:p xmlns:a="http://schemas.openxmlformats.org/drawingml/2006/main">
            <a:r>
              <a:t/>
            </a:r>
          </a:p>
          <a:p xmlns:a="http://schemas.openxmlformats.org/drawingml/2006/main">
            <a:r>
              <a:t>The snippet is the documented managed-settings baseline, not a complete hardened policy. enabled activates the Bash sandbox. failIfUnavailable turns missing support into a startup failure. allowUnsandboxedCommands false removes the model retry escape hatch. excludedCommands still bypass it, and current documentation says developers can append exclusions through merged arrays: this is not a hostile-user control. User-typed ! commands ordinarily run outside this boundary. ~/.claude/settings.json is personal, .claude/settings.json is shared, .claude/settings.local.json is local, and managed settings enforce supported organizational keys. Managed read/domain locks exist, but arrays do not all follow simple scalar precedence. Inspect the resolved policy, not just a checked-in file.</a:t>
            </a:r>
          </a:p>
          <a:p xmlns:a="http://schemas.openxmlformats.org/drawingml/2006/main">
            <a:r>
              <a:t/>
            </a:r>
          </a:p>
          <a:p xmlns:a="http://schemas.openxmlformats.org/drawingml/2006/main">
            <a:r>
              <a:t>Sources (accessed 13 September 2026):</a:t>
            </a:r>
          </a:p>
          <a:p xmlns:a="http://schemas.openxmlformats.org/drawingml/2006/main">
            <a:r>
              <a:t>https://code.claude.com/docs/en/sandboxing</a:t>
            </a:r>
          </a:p>
          <a:p xmlns:a="http://schemas.openxmlformats.org/drawingml/2006/main">
            <a:r>
              <a:t>https://code.claude.com/docs/en/settings</a:t>
            </a:r>
          </a:p>
          <a:p xmlns:a="http://schemas.openxmlformats.org/drawingml/2006/main">
            <a:r>
              <a:t>https://code.claude.com/docs/en/managed-settings</a:t>
            </a:r>
          </a:p>
          <a:p xmlns:a="http://schemas.openxmlformats.org/drawingml/2006/main">
            <a:r>
              <a:t/>
            </a:r>
          </a:p>
          <a:p xmlns:a="http://schemas.openxmlformats.org/drawingml/2006/main">
            <a:r>
              <a:t>Product behavior follows the documentation available on the research date. Recheck the installed version and effective policy before teaching configuration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discussion: 2 min. Optional live demonstration time is additional.</a:t>
            </a:r>
          </a:p>
          <a:p xmlns:a="http://schemas.openxmlformats.org/drawingml/2006/main">
            <a:r>
              <a:t/>
            </a:r>
          </a:p>
          <a:p xmlns:a="http://schemas.openxmlformats.org/drawingml/2006/main">
            <a:r>
              <a:t>Present this as a reusable prompt, not a request to memorize JSON. The matching prompt is in demos/configure-claude-prompt.md. Ask Claude for exact source links and differences between currently installed behavior and the documentation. A review should cover every widened path and destination. Validation should include a successful operation as well as a denied operation, otherwise a broken tool may look secure. Infrastructure policy and managed settings need their own ownership and review. Credentials should be named by purpose and scope, not pasted into the conversation.</a:t>
            </a:r>
          </a:p>
          <a:p xmlns:a="http://schemas.openxmlformats.org/drawingml/2006/main">
            <a:r>
              <a:t/>
            </a:r>
          </a:p>
          <a:p xmlns:a="http://schemas.openxmlformats.org/drawingml/2006/main">
            <a:r>
              <a:t>Sources (accessed 13 September 2026):</a:t>
            </a:r>
          </a:p>
          <a:p xmlns:a="http://schemas.openxmlformats.org/drawingml/2006/main">
            <a:r>
              <a:t>https://code.claude.com/docs/en/settings</a:t>
            </a:r>
          </a:p>
          <a:p xmlns:a="http://schemas.openxmlformats.org/drawingml/2006/main">
            <a:r>
              <a:t>https://code.claude.com/docs/en/sandboxing</a:t>
            </a:r>
          </a:p>
          <a:p xmlns:a="http://schemas.openxmlformats.org/drawingml/2006/main">
            <a:r>
              <a:t/>
            </a:r>
          </a:p>
          <a:p xmlns:a="http://schemas.openxmlformats.org/drawingml/2006/main">
            <a:r>
              <a:t>Product behavior follows the documentation available on the research date. Recheck the installed version and effective policy before teaching configuration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discussion: 2 min. Optional live demonstration time is additional.</a:t>
            </a:r>
          </a:p>
          <a:p xmlns:a="http://schemas.openxmlformats.org/drawingml/2006/main">
            <a:r>
              <a:t/>
            </a:r>
          </a:p>
          <a:p xmlns:a="http://schemas.openxmlformats.org/drawingml/2006/main">
            <a:r>
              <a:t>The standalone @anthropic-ai/sandbox-runtime can wrap the whole Claude Code process, so in-process file tools, launched local MCP servers and hooks are constrained as well. It reuses OS primitives and is documented as a beta research preview with a changing configuration format. Configure its own filesystem and network requirements before launch. It can also wrap other programs, which is a useful nuance: not every Anthropic component is exclusive to Claude. The outer runtime cannot constrain execution on a remote MCP server, and it does not hide model input from the configured provider. The command on the slide is illustrative and needs a runtime policy first.</a:t>
            </a:r>
          </a:p>
          <a:p xmlns:a="http://schemas.openxmlformats.org/drawingml/2006/main">
            <a:r>
              <a:t/>
            </a:r>
          </a:p>
          <a:p xmlns:a="http://schemas.openxmlformats.org/drawingml/2006/main">
            <a:r>
              <a:t>Sources (accessed 13 September 2026):</a:t>
            </a:r>
          </a:p>
          <a:p xmlns:a="http://schemas.openxmlformats.org/drawingml/2006/main">
            <a:r>
              <a:t>https://code.claude.com/docs/en/sandbox-environments</a:t>
            </a:r>
          </a:p>
          <a:p xmlns:a="http://schemas.openxmlformats.org/drawingml/2006/main">
            <a:r>
              <a:t>https://github.com/anthropic-experimental/sandbox-runtime</a:t>
            </a:r>
          </a:p>
          <a:p xmlns:a="http://schemas.openxmlformats.org/drawingml/2006/main">
            <a:r>
              <a:t/>
            </a:r>
          </a:p>
          <a:p xmlns:a="http://schemas.openxmlformats.org/drawingml/2006/main">
            <a:r>
              <a:t>Product behavior follows the documentation available on the research date. Recheck the installed version and effective policy before teaching configuration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discussion: 2 min. Optional live demonstration time is additional.</a:t>
            </a:r>
          </a:p>
          <a:p xmlns:a="http://schemas.openxmlformats.org/drawingml/2006/main">
            <a:r>
              <a:t/>
            </a:r>
          </a:p>
          <a:p xmlns:a="http://schemas.openxmlformats.org/drawingml/2006/main">
            <a:r>
              <a:t>This is an architectural judgment tailored to real-world mixed teams. The operating environment remains the same when the coding tool changes. A platform team can own images, egress and credential issuance, while project teams define application requirements. The trade-off is extra setup, image lifecycle, debugging and platform maintenance. This approach reduces coding-tool policy coupling rather than eliminating all lock-in. A developer who can run arbitrary tools directly on an unrestricted workstation is still outside the policy, so enforcing where tools run may also require endpoint controls.</a:t>
            </a:r>
          </a:p>
          <a:p xmlns:a="http://schemas.openxmlformats.org/drawingml/2006/main">
            <a:r>
              <a:t/>
            </a:r>
          </a:p>
          <a:p xmlns:a="http://schemas.openxmlformats.org/drawingml/2006/main">
            <a:r>
              <a:t>Sources (accessed 13 September 2026):</a:t>
            </a:r>
          </a:p>
          <a:p xmlns:a="http://schemas.openxmlformats.org/drawingml/2006/main">
            <a:r>
              <a:t>https://code.claude.com/docs/en/sandbox-environments</a:t>
            </a:r>
          </a:p>
          <a:p xmlns:a="http://schemas.openxmlformats.org/drawingml/2006/main">
            <a:r>
              <a:t>https://code.claude.com/docs/en/managed-settings</a:t>
            </a:r>
          </a:p>
          <a:p xmlns:a="http://schemas.openxmlformats.org/drawingml/2006/main">
            <a:r>
              <a:t/>
            </a:r>
          </a:p>
          <a:p xmlns:a="http://schemas.openxmlformats.org/drawingml/2006/main">
            <a:r>
              <a:t>Product behavior follows the documentation available on the research date. Recheck the installed version and effective policy before teaching configuration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discussion: 2 min. Optional live demonstration time is additional.</a:t>
            </a:r>
          </a:p>
          <a:p xmlns:a="http://schemas.openxmlformats.org/drawingml/2006/main">
            <a:r>
              <a:t/>
            </a:r>
          </a:p>
          <a:p xmlns:a="http://schemas.openxmlformats.org/drawingml/2006/main">
            <a:r>
              <a:t>Containers are a practical starting point for trusted team projects. The development environment can hold the CLI, package manager, tests and local MCP processes. A devcontainer.json standardizes setup across supporting tools, but is not inherently a hardened policy. Linux containers share the kernel of their container host. Docker Desktop may put that host in a VM, which does not give each container its own kernel. Use non-root processes, narrow mounts, restricted capabilities and resource limits. Rootless Docker also reduces daemon privilege where supported. Keep the host Docker socket and broad home-directory mounts out of the workload. Network isolation requires explicit egress policy. A writable bind mount lets the workload change those host files.</a:t>
            </a:r>
          </a:p>
          <a:p xmlns:a="http://schemas.openxmlformats.org/drawingml/2006/main">
            <a:r>
              <a:t/>
            </a:r>
          </a:p>
          <a:p xmlns:a="http://schemas.openxmlformats.org/drawingml/2006/main">
            <a:r>
              <a:t>Sources (accessed 13 September 2026):</a:t>
            </a:r>
          </a:p>
          <a:p xmlns:a="http://schemas.openxmlformats.org/drawingml/2006/main">
            <a:r>
              <a:t>https://docs.docker.com/engine/security/</a:t>
            </a:r>
          </a:p>
          <a:p xmlns:a="http://schemas.openxmlformats.org/drawingml/2006/main">
            <a:r>
              <a:t>https://docs.docker.com/engine/security/rootless/</a:t>
            </a:r>
          </a:p>
          <a:p xmlns:a="http://schemas.openxmlformats.org/drawingml/2006/main">
            <a:r>
              <a:t>https://code.claude.com/docs/en/devcontainer</a:t>
            </a:r>
          </a:p>
          <a:p xmlns:a="http://schemas.openxmlformats.org/drawingml/2006/main">
            <a:r>
              <a:t/>
            </a:r>
          </a:p>
          <a:p xmlns:a="http://schemas.openxmlformats.org/drawingml/2006/main">
            <a:r>
              <a:t>Product behavior follows the documentation available on the research date. Recheck the installed version and effective policy before teaching configuration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discussion: 2 min. Optional live demonstration time is additional.</a:t>
            </a:r>
          </a:p>
          <a:p xmlns:a="http://schemas.openxmlformats.org/drawingml/2006/main">
            <a:r>
              <a:t/>
            </a:r>
          </a:p>
          <a:p xmlns:a="http://schemas.openxmlformats.org/drawingml/2006/main">
            <a:r>
              <a:t>A VM adds its own guest kernel and separates the workload from the workstation OS. It is useful for unfamiliar repositories or when a shared kernel is outside the accepted threat model. Local VMs, cloud VMs and microVMs are variants. Use a project clone on a guest disk and a scoped identity rather than sharing the host home directory or agent sockets. Shared folders and forwarded sockets deliberately cross the boundary. A snapshot restores local state but cannot undo an API action or recover a leaked credential. A VM takes more resources and needs image patching and lifecycle work.</a:t>
            </a:r>
          </a:p>
          <a:p xmlns:a="http://schemas.openxmlformats.org/drawingml/2006/main">
            <a:r>
              <a:t/>
            </a:r>
          </a:p>
          <a:p xmlns:a="http://schemas.openxmlformats.org/drawingml/2006/main">
            <a:r>
              <a:t>Sources (accessed 13 September 2026):</a:t>
            </a:r>
          </a:p>
          <a:p xmlns:a="http://schemas.openxmlformats.org/drawingml/2006/main">
            <a:r>
              <a:t>https://code.claude.com/docs/en/sandbox-environments</a:t>
            </a:r>
          </a:p>
          <a:p xmlns:a="http://schemas.openxmlformats.org/drawingml/2006/main">
            <a:r>
              <a:t>https://code.claude.com/docs/en/agent-sdk/secure-deployment</a:t>
            </a:r>
          </a:p>
          <a:p xmlns:a="http://schemas.openxmlformats.org/drawingml/2006/main">
            <a:r>
              <a:t/>
            </a:r>
          </a:p>
          <a:p xmlns:a="http://schemas.openxmlformats.org/drawingml/2006/main">
            <a:r>
              <a:t>Product behavior follows the documentation available on the research date. Recheck the installed version and effective policy before teaching configuration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discussion: 2 min. Optional live demonstration time is additional.</a:t>
            </a:r>
          </a:p>
          <a:p xmlns:a="http://schemas.openxmlformats.org/drawingml/2006/main">
            <a:r>
              <a:t/>
            </a:r>
          </a:p>
          <a:p xmlns:a="http://schemas.openxmlformats.org/drawingml/2006/main">
            <a:r>
              <a:t>This is the presenter’s deployment option for cases where the main workstation must not share its machine with the coding workload. A dedicated lab computer or remote physical workstation can run multiple approved tools. The physical separation only helps when data and network access are also separated. Do not automatically import the daily browser profile, SSH agent or production identity. A separate computer on the same unrestricted corporate network can still reach sensitive services. It is not an air gap when connected to a cloud model. Device inventory, updates, reimaging and secure access increase operational cost. These points are architectural reasoning rather than Claude Code features.</a:t>
            </a:r>
          </a:p>
          <a:p xmlns:a="http://schemas.openxmlformats.org/drawingml/2006/main">
            <a:r>
              <a:t/>
            </a:r>
          </a:p>
          <a:p xmlns:a="http://schemas.openxmlformats.org/drawingml/2006/main">
            <a:r>
              <a:t>Sources (accessed 13 September 2026):</a:t>
            </a:r>
          </a:p>
          <a:p xmlns:a="http://schemas.openxmlformats.org/drawingml/2006/main">
            <a:r>
              <a:t>https://code.claude.com/docs/en/agent-sdk/secure-deployment</a:t>
            </a:r>
          </a:p>
          <a:p xmlns:a="http://schemas.openxmlformats.org/drawingml/2006/main">
            <a:r>
              <a:t/>
            </a:r>
          </a:p>
          <a:p xmlns:a="http://schemas.openxmlformats.org/drawingml/2006/main">
            <a:r>
              <a:t>Product behavior follows the documentation available on the research date. Recheck the installed version and effective policy before teaching configuration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discussion: 2 min. Optional live demonstration time is additional.</a:t>
            </a:r>
          </a:p>
          <a:p xmlns:a="http://schemas.openxmlformats.org/drawingml/2006/main">
            <a:r>
              <a:t/>
            </a:r>
          </a:p>
          <a:p xmlns:a="http://schemas.openxmlformats.org/drawingml/2006/main">
            <a:r>
              <a:t>Use this qualitative comparison as a starting point, not a certified security ranking. Container separation depends on configuration and the shared kernel. VMs add a guest kernel but can expose host resources. Hardware separates the machine but can still share identities and services. Select the smallest operationally sustainable boundary that meets the threat model, then prove it with negative tests. An organization may use containers inside VMs, with built-in sandboxing inside those. The extra layers should address identified risks rather than simply adding complexity.</a:t>
            </a:r>
          </a:p>
          <a:p xmlns:a="http://schemas.openxmlformats.org/drawingml/2006/main">
            <a:r>
              <a:t/>
            </a:r>
          </a:p>
          <a:p xmlns:a="http://schemas.openxmlformats.org/drawingml/2006/main">
            <a:r>
              <a:t>Sources (accessed 13 September 2026):</a:t>
            </a:r>
          </a:p>
          <a:p xmlns:a="http://schemas.openxmlformats.org/drawingml/2006/main">
            <a:r>
              <a:t>https://code.claude.com/docs/en/sandbox-environments</a:t>
            </a:r>
          </a:p>
          <a:p xmlns:a="http://schemas.openxmlformats.org/drawingml/2006/main">
            <a:r>
              <a:t>https://docs.docker.com/engine/security/</a:t>
            </a:r>
          </a:p>
          <a:p xmlns:a="http://schemas.openxmlformats.org/drawingml/2006/main">
            <a:r>
              <a:t>https://code.claude.com/docs/en/agent-sdk/secure-deployment</a:t>
            </a:r>
          </a:p>
          <a:p xmlns:a="http://schemas.openxmlformats.org/drawingml/2006/main">
            <a:r>
              <a:t/>
            </a:r>
          </a:p>
          <a:p xmlns:a="http://schemas.openxmlformats.org/drawingml/2006/main">
            <a:r>
              <a:t>Product behavior follows the documentation available on the research date. Recheck the installed version and effective policy before teaching configuration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discussion: 2 min. Optional live demonstration time is additional.</a:t>
            </a:r>
          </a:p>
          <a:p xmlns:a="http://schemas.openxmlformats.org/drawingml/2006/main">
            <a:r>
              <a:t/>
            </a:r>
          </a:p>
          <a:p xmlns:a="http://schemas.openxmlformats.org/drawingml/2006/main">
            <a:r>
              <a:t>Describe a proposed team design rather than a vendor reference architecture. Keep coding agents, build tools and local MCP processes in the approved per-project environment. Provide a disposable clone or tightly scoped mount. A platform-owned proxy/firewall should enforce egress independently of the coding tool, and scoped short-lived credentials should identify the task or project. Export a diff or pull request for review. Keep production deployment credentials and the approval decision in a separate pipeline. A committed environment definition encourages consistency but does not enforce use: control installation, credential issuance or network entry as required. The exact implementation should fit the organization.</a:t>
            </a:r>
          </a:p>
          <a:p xmlns:a="http://schemas.openxmlformats.org/drawingml/2006/main">
            <a:r>
              <a:t/>
            </a:r>
          </a:p>
          <a:p xmlns:a="http://schemas.openxmlformats.org/drawingml/2006/main">
            <a:r>
              <a:t>Sources (accessed 13 September 2026):</a:t>
            </a:r>
          </a:p>
          <a:p xmlns:a="http://schemas.openxmlformats.org/drawingml/2006/main">
            <a:r>
              <a:t>https://code.claude.com/docs/en/agent-sdk/secure-deployment</a:t>
            </a:r>
          </a:p>
          <a:p xmlns:a="http://schemas.openxmlformats.org/drawingml/2006/main">
            <a:r>
              <a:t>https://code.claude.com/docs/en/devcontainer</a:t>
            </a:r>
          </a:p>
          <a:p xmlns:a="http://schemas.openxmlformats.org/drawingml/2006/main">
            <a:r>
              <a:t>https://code.claude.com/docs/en/sandbox-environments</a:t>
            </a:r>
          </a:p>
          <a:p xmlns:a="http://schemas.openxmlformats.org/drawingml/2006/main">
            <a:r>
              <a:t/>
            </a:r>
          </a:p>
          <a:p xmlns:a="http://schemas.openxmlformats.org/drawingml/2006/main">
            <a:r>
              <a:t>Product behavior follows the documentation available on the research date. Recheck the installed version and effective policy before teaching configuration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discussion: 2 min. Optional live demonstration time is additional.</a:t>
            </a:r>
          </a:p>
          <a:p xmlns:a="http://schemas.openxmlformats.org/drawingml/2006/main">
            <a:r>
              <a:t/>
            </a:r>
          </a:p>
          <a:p xmlns:a="http://schemas.openxmlformats.org/drawingml/2006/main">
            <a:r>
              <a:t>Connect the sandbox topic back to session 3. A local stdio MCP server is executable code: it must run inside the chosen boundary to inherit its containment. A remote MCP endpoint runs elsewhere. Restricting which server Claude may connect to is useful, but does not determine which customer records that server can access. The remote system should enforce identity, tenant scope and action-level authorization. A destructive action that is valid for the token remains possible from inside a perfectly isolated VM. Managed MCP server policies can restrict available servers. Apply equivalent service-side controls to the classroom application agent, independently of Claude Code settings.</a:t>
            </a:r>
          </a:p>
          <a:p xmlns:a="http://schemas.openxmlformats.org/drawingml/2006/main">
            <a:r>
              <a:t/>
            </a:r>
          </a:p>
          <a:p xmlns:a="http://schemas.openxmlformats.org/drawingml/2006/main">
            <a:r>
              <a:t>Sources (accessed 13 September 2026):</a:t>
            </a:r>
          </a:p>
          <a:p xmlns:a="http://schemas.openxmlformats.org/drawingml/2006/main">
            <a:r>
              <a:t>https://code.claude.com/docs/en/managed-mcp</a:t>
            </a:r>
          </a:p>
          <a:p xmlns:a="http://schemas.openxmlformats.org/drawingml/2006/main">
            <a:r>
              <a:t>https://code.claude.com/docs/en/agent-sdk/secure-deployment</a:t>
            </a:r>
          </a:p>
          <a:p xmlns:a="http://schemas.openxmlformats.org/drawingml/2006/main">
            <a:r>
              <a:t>https://code.claude.com/docs/en/permissions</a:t>
            </a:r>
          </a:p>
          <a:p xmlns:a="http://schemas.openxmlformats.org/drawingml/2006/main">
            <a:r>
              <a:t/>
            </a:r>
          </a:p>
          <a:p xmlns:a="http://schemas.openxmlformats.org/drawingml/2006/main">
            <a:r>
              <a:t>Product behavior follows the documentation available on the research date. Recheck the installed version and effective policy before teaching configuration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discussion: 1 min + optional 3 min demo. Optional live demonstration time is additional.</a:t>
            </a:r>
          </a:p>
          <a:p xmlns:a="http://schemas.openxmlformats.org/drawingml/2006/main">
            <a:r>
              <a:t/>
            </a:r>
          </a:p>
          <a:p xmlns:a="http://schemas.openxmlformats.org/drawingml/2006/main">
            <a:r>
              <a:t>Optional 3-minute live demo. Use demos/README.md, Demo 3 and the independent Python driver. It starts a disposable Docker container with no network and read-only root filesystem. A mounted workspace remains writable. Inside, a shell and Python each try to write a workspace file and an /opt file. Both workspace writes must succeed, and both /opt writes must fail. These are representative child processes, so the demonstration requires no model account and does not claim to compare two full coding agents. The single lesson is that the mount policy is enforced outside the tool. Pre-pull the Python image before class. The driver verifies exact read-only error behavior and removes its temporary workspace after displaying results. Do not broaden container privileges to fix a failed demo. Verified 15 September 2026 with Docker Engine 28.5.1 on Docker Desktop for macOS; the run takes about two seconds.</a:t>
            </a:r>
          </a:p>
          <a:p xmlns:a="http://schemas.openxmlformats.org/drawingml/2006/main">
            <a:r>
              <a:t/>
            </a:r>
          </a:p>
          <a:p xmlns:a="http://schemas.openxmlformats.org/drawingml/2006/main">
            <a:r>
              <a:t>Sources (accessed 13 September 2026):</a:t>
            </a:r>
          </a:p>
          <a:p xmlns:a="http://schemas.openxmlformats.org/drawingml/2006/main">
            <a:r>
              <a:t>https://docs.docker.com/engine/security/</a:t>
            </a:r>
          </a:p>
          <a:p xmlns:a="http://schemas.openxmlformats.org/drawingml/2006/main">
            <a:r>
              <a:t>https://code.claude.com/docs/en/agent-sdk/secure-deployment</a:t>
            </a:r>
          </a:p>
          <a:p xmlns:a="http://schemas.openxmlformats.org/drawingml/2006/main">
            <a:r>
              <a:t/>
            </a:r>
          </a:p>
          <a:p xmlns:a="http://schemas.openxmlformats.org/drawingml/2006/main">
            <a:r>
              <a:t>Product behavior follows the documentation available on the research date. Recheck the installed version and effective policy before teaching configuration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discussion: 2 min. Optional live demonstration time is additional.</a:t>
            </a:r>
          </a:p>
          <a:p xmlns:a="http://schemas.openxmlformats.org/drawingml/2006/main">
            <a:r>
              <a:t/>
            </a:r>
          </a:p>
          <a:p xmlns:a="http://schemas.openxmlformats.org/drawingml/2006/main">
            <a:r>
              <a:t>Close by restating the presenter’s position. Built-in sandboxing is a useful set of capabilities with a specific scope. Use current documentation and Claude to turn requirements into a proposed configuration, then test the actual effect. In mixed-tool teams, the presenter prefers to put the primary execution boundary in infrastructure and retain tool controls where useful. A sandbox is only one part of access control: it does not replace service authorization, protect data already sent to the model, or validate the quality of a change. Sources for each topic are in the corresponding slide notes. Invite discussion about one resource participants currently expose too broadly.</a:t>
            </a:r>
          </a:p>
          <a:p xmlns:a="http://schemas.openxmlformats.org/drawingml/2006/main">
            <a:r>
              <a:t/>
            </a:r>
          </a:p>
          <a:p xmlns:a="http://schemas.openxmlformats.org/drawingml/2006/main">
            <a:r>
              <a:t>Sources (accessed 13 September 2026):</a:t>
            </a:r>
          </a:p>
          <a:p xmlns:a="http://schemas.openxmlformats.org/drawingml/2006/main">
            <a:r>
              <a:t>https://code.claude.com/docs/en/sandboxing</a:t>
            </a:r>
          </a:p>
          <a:p xmlns:a="http://schemas.openxmlformats.org/drawingml/2006/main">
            <a:r>
              <a:t>https://code.claude.com/docs/en/sandbox-environments</a:t>
            </a:r>
          </a:p>
          <a:p xmlns:a="http://schemas.openxmlformats.org/drawingml/2006/main">
            <a:r>
              <a:t>https://code.claude.com/docs/en/permissions</a:t>
            </a:r>
          </a:p>
          <a:p xmlns:a="http://schemas.openxmlformats.org/drawingml/2006/main">
            <a:r>
              <a:t>https://code.claude.com/docs/en/devcontainer</a:t>
            </a:r>
          </a:p>
          <a:p xmlns:a="http://schemas.openxmlformats.org/drawingml/2006/main">
            <a:r>
              <a:t/>
            </a:r>
          </a:p>
          <a:p xmlns:a="http://schemas.openxmlformats.org/drawingml/2006/main">
            <a:r>
              <a:t>Product behavior follows the documentation available on the research date. Recheck the installed version and effective policy before teaching configuration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618fcf2a9664df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0e20ffa78f44916" /><Relationship Type="http://schemas.openxmlformats.org/officeDocument/2006/relationships/slideLayout" Target="/ppt/slideLayouts/slideLayout1.xml" Id="Rd3204d0baad5451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3204d0baad5451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3e48fd60cb24b29" /><Relationship Type="http://schemas.openxmlformats.org/officeDocument/2006/relationships/notesSlide" Target="/ppt/notesSlides/notesSlide1.xml" Id="Rce88342f44e1434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5e54a84bf4b400e" /><Relationship Type="http://schemas.openxmlformats.org/officeDocument/2006/relationships/notesSlide" Target="/ppt/notesSlides/notesSlide2.xml" Id="Rcabf5b99f9c0438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d27f057b4114cc6" /><Relationship Type="http://schemas.openxmlformats.org/officeDocument/2006/relationships/notesSlide" Target="/ppt/notesSlides/notesSlide3.xml" Id="Rba62bee9f92c4af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2f9f2a80cdf4e05" /><Relationship Type="http://schemas.openxmlformats.org/officeDocument/2006/relationships/notesSlide" Target="/ppt/notesSlides/notesSlide4.xml" Id="R28e82133eff94da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5339bfc1f38429f" /><Relationship Type="http://schemas.openxmlformats.org/officeDocument/2006/relationships/notesSlide" Target="/ppt/notesSlides/notesSlide5.xml" Id="R4d8e01aa8b62441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0b1544cd7c64301" /><Relationship Type="http://schemas.openxmlformats.org/officeDocument/2006/relationships/notesSlide" Target="/ppt/notesSlides/notesSlide6.xml" Id="R00beac4f41fb4c9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c09667c1349482f" /><Relationship Type="http://schemas.openxmlformats.org/officeDocument/2006/relationships/notesSlide" Target="/ppt/notesSlides/notesSlide7.xml" Id="R5c76d6008e5e43d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9ed4ddc40d6461a" /><Relationship Type="http://schemas.openxmlformats.org/officeDocument/2006/relationships/notesSlide" Target="/ppt/notesSlides/notesSlide8.xml" Id="Rbe81eb65592847a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5d4c2301b0947d9" /><Relationship Type="http://schemas.openxmlformats.org/officeDocument/2006/relationships/notesSlide" Target="/ppt/notesSlides/notesSlide9.xml" Id="Rc0e55d1968234b3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ee060fa47cd47ec" /><Relationship Type="http://schemas.openxmlformats.org/officeDocument/2006/relationships/notesSlide" Target="/ppt/notesSlides/notesSlide10.xml" Id="R00f40e9092434d3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98a26b7fe894263" /><Relationship Type="http://schemas.openxmlformats.org/officeDocument/2006/relationships/notesSlide" Target="/ppt/notesSlides/notesSlide11.xml" Id="R1cbcb9a9b277454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5a463b8dd704907" /><Relationship Type="http://schemas.openxmlformats.org/officeDocument/2006/relationships/notesSlide" Target="/ppt/notesSlides/notesSlide12.xml" Id="R62d91c5c22074a6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0630eedb5a24517" /><Relationship Type="http://schemas.openxmlformats.org/officeDocument/2006/relationships/notesSlide" Target="/ppt/notesSlides/notesSlide13.xml" Id="R27081be05d1b45c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fcde1fbec2549b6" /><Relationship Type="http://schemas.openxmlformats.org/officeDocument/2006/relationships/notesSlide" Target="/ppt/notesSlides/notesSlide14.xml" Id="R8aac6834e8574be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d5fae25445443ce" /><Relationship Type="http://schemas.openxmlformats.org/officeDocument/2006/relationships/notesSlide" Target="/ppt/notesSlides/notesSlide15.xml" Id="Rfee604ede43a41e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3617ee8d2c844f7" /><Relationship Type="http://schemas.openxmlformats.org/officeDocument/2006/relationships/notesSlide" Target="/ppt/notesSlides/notesSlide16.xml" Id="R8a41f6492df2474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3fd4087ee764ff7" /><Relationship Type="http://schemas.openxmlformats.org/officeDocument/2006/relationships/notesSlide" Target="/ppt/notesSlides/notesSlide17.xml" Id="Rd03d9aa9dc63467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40f0c52ebac4843" /><Relationship Type="http://schemas.openxmlformats.org/officeDocument/2006/relationships/notesSlide" Target="/ppt/notesSlides/notesSlide18.xml" Id="R7d595e9b8ed344d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4d6aef44f8c4274" /><Relationship Type="http://schemas.openxmlformats.org/officeDocument/2006/relationships/notesSlide" Target="/ppt/notesSlides/notesSlide19.xml" Id="R5993db3f3a3248d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c0ab30778e64e81" /><Relationship Type="http://schemas.openxmlformats.org/officeDocument/2006/relationships/notesSlide" Target="/ppt/notesSlides/notesSlide20.xml" Id="R5916b4b5641c479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dc86f0c2c4548f2" /><Relationship Type="http://schemas.openxmlformats.org/officeDocument/2006/relationships/notesSlide" Target="/ppt/notesSlides/notesSlide21.xml" Id="R775e9e6c470641f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5a61f90baae4df7" /><Relationship Type="http://schemas.openxmlformats.org/officeDocument/2006/relationships/notesSlide" Target="/ppt/notesSlides/notesSlide22.xml" Id="R69c823f7e7c24e2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E08624A-30E1-4548-B623-63CE197AAA21}"/>
              </a:ext>
            </a:extLst>
          </p:cNvPr>
          <p:cNvSpPr>
            <a:spLocks xmlns:a="http://schemas.openxmlformats.org/drawingml/2006/main" noGrp="1"/>
          </p:cNvSpPr>
          <p:nvPr/>
        </p:nvSpPr>
        <p:spPr>
          <a:xfrm xmlns:a="http://schemas.openxmlformats.org/drawingml/2006/main">
            <a:off x="609600" y="457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2B3A"/>
                </a:solidFill>
                <a:latin typeface="Helvetica Neue"/>
                <a:ea typeface="Helvetica Neue"/>
                <a:cs typeface="Helvetica Neue"/>
              </a:defRPr>
            </a:pPr>
            <a:r>
              <a:rPr sz="3300" b="1">
                <a:solidFill>
                  <a:srgbClr val="182B3A"/>
                </a:solidFill>
                <a:latin typeface="Helvetica Neue"/>
                <a:ea typeface="Helvetica Neue"/>
                <a:cs typeface="Helvetica Neue"/>
              </a:rPr>
              <a:t>Sandboxing coding agents</a:t>
            </a:r>
          </a:p>
        </p:txBody>
      </p:sp>
      <p:sp>
        <p:nvSpPr>
          <p:cNvPr id="2" name="">
            <a:extLst xmlns:a="http://schemas.openxmlformats.org/drawingml/2006/main">
              <a:ext uri="{FF2B5EF4-FFF2-40B4-BE49-F238E27FC236}">
                <a16:creationId xmlns:a16="http://schemas.microsoft.com/office/drawing/2014/main" id="{71941155-F1B3-4500-B9B6-A863757A946D}"/>
              </a:ext>
            </a:extLst>
          </p:cNvPr>
          <p:cNvSpPr>
            <a:spLocks xmlns:a="http://schemas.openxmlformats.org/drawingml/2006/main" noGrp="1"/>
          </p:cNvSpPr>
          <p:nvPr/>
        </p:nvSpPr>
        <p:spPr>
          <a:xfrm xmlns:a="http://schemas.openxmlformats.org/drawingml/2006/main">
            <a:off x="609600" y="63817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75"/>
                </a:solidFill>
                <a:latin typeface="Helvetica Neue"/>
                <a:ea typeface="Helvetica Neue"/>
                <a:cs typeface="Helvetica Neue"/>
              </a:defRPr>
            </a:pPr>
            <a:r>
              <a:rPr sz="1200" b="0">
                <a:solidFill>
                  <a:srgbClr val="566675"/>
                </a:solidFill>
                <a:latin typeface="Helvetica Neue"/>
                <a:ea typeface="Helvetica Neue"/>
                <a:cs typeface="Helvetica Neue"/>
              </a:rPr>
              <a:t>Session 3  /  Sandboxing</a:t>
            </a:r>
          </a:p>
        </p:txBody>
      </p:sp>
      <p:sp>
        <p:nvSpPr>
          <p:cNvPr id="3" name="">
            <a:extLst xmlns:a="http://schemas.openxmlformats.org/drawingml/2006/main">
              <a:ext uri="{FF2B5EF4-FFF2-40B4-BE49-F238E27FC236}">
                <a16:creationId xmlns:a16="http://schemas.microsoft.com/office/drawing/2014/main" id="{8644EF5D-5CE5-464F-BB3F-88C12EF3BA53}"/>
              </a:ext>
            </a:extLst>
          </p:cNvPr>
          <p:cNvSpPr>
            <a:spLocks xmlns:a="http://schemas.openxmlformats.org/drawingml/2006/main" noGrp="1"/>
          </p:cNvSpPr>
          <p:nvPr/>
        </p:nvSpPr>
        <p:spPr>
          <a:xfrm xmlns:a="http://schemas.openxmlformats.org/drawingml/2006/main">
            <a:off x="110109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75"/>
                </a:solidFill>
                <a:latin typeface="Helvetica Neue"/>
                <a:ea typeface="Helvetica Neue"/>
                <a:cs typeface="Helvetica Neue"/>
              </a:defRPr>
            </a:pPr>
            <a:r>
              <a:rPr sz="1200" b="0">
                <a:solidFill>
                  <a:srgbClr val="566675"/>
                </a:solidFill>
                <a:latin typeface="Helvetica Neue"/>
                <a:ea typeface="Helvetica Neue"/>
                <a:cs typeface="Helvetica Neue"/>
              </a:rPr>
              <a:t>01</a:t>
            </a:r>
          </a:p>
        </p:txBody>
      </p:sp>
      <p:sp>
        <p:nvSpPr>
          <p:cNvPr id="4" name="">
            <a:extLst xmlns:a="http://schemas.openxmlformats.org/drawingml/2006/main">
              <a:ext uri="{FF2B5EF4-FFF2-40B4-BE49-F238E27FC236}">
                <a16:creationId xmlns:a16="http://schemas.microsoft.com/office/drawing/2014/main" id="{2E929AD5-7436-4B30-8C55-00C4ADA35E47}"/>
              </a:ext>
            </a:extLst>
          </p:cNvPr>
          <p:cNvSpPr>
            <a:spLocks xmlns:a="http://schemas.openxmlformats.org/drawingml/2006/main" noGrp="1"/>
          </p:cNvSpPr>
          <p:nvPr/>
        </p:nvSpPr>
        <p:spPr>
          <a:xfrm xmlns:a="http://schemas.openxmlformats.org/drawingml/2006/main">
            <a:off x="609600" y="2076450"/>
            <a:ext cx="10382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2B3A"/>
                </a:solidFill>
                <a:latin typeface="Helvetica Neue"/>
                <a:ea typeface="Helvetica Neue"/>
                <a:cs typeface="Helvetica Neue"/>
              </a:defRPr>
            </a:pPr>
            <a:r>
              <a:rPr sz="2850" b="0">
                <a:solidFill>
                  <a:srgbClr val="182B3A"/>
                </a:solidFill>
                <a:latin typeface="Helvetica Neue"/>
                <a:ea typeface="Helvetica Neue"/>
                <a:cs typeface="Helvetica Neue"/>
              </a:rPr>
              <a:t>Claude Code features and infrastructure-level isolation</a:t>
            </a:r>
          </a:p>
        </p:txBody>
      </p:sp>
      <p:sp>
        <p:nvSpPr>
          <p:cNvPr id="5" name="">
            <a:extLst xmlns:a="http://schemas.openxmlformats.org/drawingml/2006/main">
              <a:ext uri="{FF2B5EF4-FFF2-40B4-BE49-F238E27FC236}">
                <a16:creationId xmlns:a16="http://schemas.microsoft.com/office/drawing/2014/main" id="{6E3325B2-EED9-48A9-8D08-6CB22D0CD4C3}"/>
              </a:ext>
            </a:extLst>
          </p:cNvPr>
          <p:cNvSpPr>
            <a:spLocks xmlns:a="http://schemas.openxmlformats.org/drawingml/2006/main" noGrp="1"/>
          </p:cNvSpPr>
          <p:nvPr/>
        </p:nvSpPr>
        <p:spPr>
          <a:xfrm xmlns:a="http://schemas.openxmlformats.org/drawingml/2006/main">
            <a:off x="609600" y="45243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66675"/>
                </a:solidFill>
                <a:latin typeface="Helvetica Neue"/>
                <a:ea typeface="Helvetica Neue"/>
                <a:cs typeface="Helvetica Neue"/>
              </a:defRPr>
            </a:pPr>
            <a:r>
              <a:rPr sz="1875" b="0">
                <a:solidFill>
                  <a:srgbClr val="566675"/>
                </a:solidFill>
                <a:latin typeface="Helvetica Neue"/>
                <a:ea typeface="Helvetica Neue"/>
                <a:cs typeface="Helvetica Neue"/>
              </a:rPr>
              <a:t>Rainer Stropek</a:t>
            </a:r>
          </a:p>
          <a:p xmlns:a="http://schemas.openxmlformats.org/drawingml/2006/main">
            <a:pPr>
              <a:defRPr sz="1875" b="0">
                <a:solidFill>
                  <a:srgbClr val="566675"/>
                </a:solidFill>
                <a:latin typeface="Helvetica Neue"/>
                <a:ea typeface="Helvetica Neue"/>
                <a:cs typeface="Helvetica Neue"/>
              </a:defRPr>
            </a:pPr>
            <a:r>
              <a:rPr sz="1875" b="0">
                <a:solidFill>
                  <a:srgbClr val="566675"/>
                </a:solidFill>
                <a:latin typeface="Helvetica Neue"/>
                <a:ea typeface="Helvetica Neue"/>
                <a:cs typeface="Helvetica Neue"/>
              </a:rPr>
              <a:t>heise academy · Session 3 · 15 September 2026</a:t>
            </a:r>
          </a:p>
        </p:txBody>
      </p:sp>
    </p:spTree>
    <p:extLst>
      <p:ext uri="{BB962C8B-B14F-4D97-AF65-F5344CB8AC3E}">
        <p14:creationId xmlns:p14="http://schemas.microsoft.com/office/powerpoint/2010/main" val="4254811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D91FB1A-DDA6-49B8-95D3-EEB89172D094}"/>
              </a:ext>
            </a:extLst>
          </p:cNvPr>
          <p:cNvSpPr>
            <a:spLocks xmlns:a="http://schemas.openxmlformats.org/drawingml/2006/main" noGrp="1"/>
          </p:cNvSpPr>
          <p:nvPr/>
        </p:nvSpPr>
        <p:spPr>
          <a:xfrm xmlns:a="http://schemas.openxmlformats.org/drawingml/2006/main">
            <a:off x="609600" y="457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2B3A"/>
                </a:solidFill>
                <a:latin typeface="Helvetica Neue"/>
                <a:ea typeface="Helvetica Neue"/>
                <a:cs typeface="Helvetica Neue"/>
              </a:defRPr>
            </a:pPr>
            <a:r>
              <a:rPr sz="3300" b="1">
                <a:solidFill>
                  <a:srgbClr val="182B3A"/>
                </a:solidFill>
                <a:latin typeface="Helvetica Neue"/>
                <a:ea typeface="Helvetica Neue"/>
                <a:cs typeface="Helvetica Neue"/>
              </a:rPr>
              <a:t>My position</a:t>
            </a:r>
          </a:p>
        </p:txBody>
      </p:sp>
      <p:sp>
        <p:nvSpPr>
          <p:cNvPr id="2" name="">
            <a:extLst xmlns:a="http://schemas.openxmlformats.org/drawingml/2006/main">
              <a:ext uri="{FF2B5EF4-FFF2-40B4-BE49-F238E27FC236}">
                <a16:creationId xmlns:a16="http://schemas.microsoft.com/office/drawing/2014/main" id="{EC9AC463-2C17-48B5-82E4-559DADA69767}"/>
              </a:ext>
            </a:extLst>
          </p:cNvPr>
          <p:cNvSpPr>
            <a:spLocks xmlns:a="http://schemas.openxmlformats.org/drawingml/2006/main" noGrp="1"/>
          </p:cNvSpPr>
          <p:nvPr/>
        </p:nvSpPr>
        <p:spPr>
          <a:xfrm xmlns:a="http://schemas.openxmlformats.org/drawingml/2006/main">
            <a:off x="609600" y="63817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75"/>
                </a:solidFill>
                <a:latin typeface="Helvetica Neue"/>
                <a:ea typeface="Helvetica Neue"/>
                <a:cs typeface="Helvetica Neue"/>
              </a:defRPr>
            </a:pPr>
            <a:r>
              <a:rPr sz="1200" b="0">
                <a:solidFill>
                  <a:srgbClr val="566675"/>
                </a:solidFill>
                <a:latin typeface="Helvetica Neue"/>
                <a:ea typeface="Helvetica Neue"/>
                <a:cs typeface="Helvetica Neue"/>
              </a:rPr>
              <a:t>Session 3  /  Sandboxing</a:t>
            </a:r>
          </a:p>
        </p:txBody>
      </p:sp>
      <p:sp>
        <p:nvSpPr>
          <p:cNvPr id="3" name="">
            <a:extLst xmlns:a="http://schemas.openxmlformats.org/drawingml/2006/main">
              <a:ext uri="{FF2B5EF4-FFF2-40B4-BE49-F238E27FC236}">
                <a16:creationId xmlns:a16="http://schemas.microsoft.com/office/drawing/2014/main" id="{399A9512-4D5E-4937-9DBF-23DB48AE2349}"/>
              </a:ext>
            </a:extLst>
          </p:cNvPr>
          <p:cNvSpPr>
            <a:spLocks xmlns:a="http://schemas.openxmlformats.org/drawingml/2006/main" noGrp="1"/>
          </p:cNvSpPr>
          <p:nvPr/>
        </p:nvSpPr>
        <p:spPr>
          <a:xfrm xmlns:a="http://schemas.openxmlformats.org/drawingml/2006/main">
            <a:off x="110109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75"/>
                </a:solidFill>
                <a:latin typeface="Helvetica Neue"/>
                <a:ea typeface="Helvetica Neue"/>
                <a:cs typeface="Helvetica Neue"/>
              </a:defRPr>
            </a:pPr>
            <a:r>
              <a:rPr sz="1200" b="0">
                <a:solidFill>
                  <a:srgbClr val="566675"/>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1A664115-4DF1-4980-84ED-1C67C96B8ADE}"/>
              </a:ext>
            </a:extLst>
          </p:cNvPr>
          <p:cNvSpPr>
            <a:spLocks xmlns:a="http://schemas.openxmlformats.org/drawingml/2006/main" noGrp="1"/>
          </p:cNvSpPr>
          <p:nvPr/>
        </p:nvSpPr>
        <p:spPr>
          <a:xfrm xmlns:a="http://schemas.openxmlformats.org/drawingml/2006/main">
            <a:off x="609600" y="1771650"/>
            <a:ext cx="10858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26D77"/>
                </a:solidFill>
                <a:latin typeface="Helvetica Neue"/>
                <a:ea typeface="Helvetica Neue"/>
                <a:cs typeface="Helvetica Neue"/>
              </a:defRPr>
            </a:pPr>
            <a:r>
              <a:rPr sz="2700" b="1">
                <a:solidFill>
                  <a:srgbClr val="126D77"/>
                </a:solidFill>
                <a:latin typeface="Helvetica Neue"/>
                <a:ea typeface="Helvetica Neue"/>
                <a:cs typeface="Helvetica Neue"/>
              </a:rPr>
              <a:t>Claude Code has useful sandboxing controls.</a:t>
            </a:r>
          </a:p>
        </p:txBody>
      </p:sp>
      <p:sp>
        <p:nvSpPr>
          <p:cNvPr id="5" name="">
            <a:extLst xmlns:a="http://schemas.openxmlformats.org/drawingml/2006/main">
              <a:ext uri="{FF2B5EF4-FFF2-40B4-BE49-F238E27FC236}">
                <a16:creationId xmlns:a16="http://schemas.microsoft.com/office/drawing/2014/main" id="{AB757C4B-8D80-44B4-A7D6-CC8DB16CDF25}"/>
              </a:ext>
            </a:extLst>
          </p:cNvPr>
          <p:cNvSpPr>
            <a:spLocks xmlns:a="http://schemas.openxmlformats.org/drawingml/2006/main" noGrp="1"/>
          </p:cNvSpPr>
          <p:nvPr/>
        </p:nvSpPr>
        <p:spPr>
          <a:xfrm xmlns:a="http://schemas.openxmlformats.org/drawingml/2006/main">
            <a:off x="609600" y="3333750"/>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For the details</a:t>
            </a:r>
          </a:p>
        </p:txBody>
      </p:sp>
      <p:sp>
        <p:nvSpPr>
          <p:cNvPr id="6" name="">
            <a:extLst xmlns:a="http://schemas.openxmlformats.org/drawingml/2006/main">
              <a:ext uri="{FF2B5EF4-FFF2-40B4-BE49-F238E27FC236}">
                <a16:creationId xmlns:a16="http://schemas.microsoft.com/office/drawing/2014/main" id="{A4A35800-2F7B-4DE2-9F77-65870A357466}"/>
              </a:ext>
            </a:extLst>
          </p:cNvPr>
          <p:cNvSpPr>
            <a:spLocks xmlns:a="http://schemas.openxmlformats.org/drawingml/2006/main" noGrp="1"/>
          </p:cNvSpPr>
          <p:nvPr/>
        </p:nvSpPr>
        <p:spPr>
          <a:xfrm xmlns:a="http://schemas.openxmlformats.org/drawingml/2006/main">
            <a:off x="3276600" y="3333750"/>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Ask Claude to configure Claude, then verify the boundary.</a:t>
            </a:r>
          </a:p>
        </p:txBody>
      </p:sp>
      <p:sp>
        <p:nvSpPr>
          <p:cNvPr id="7" name="">
            <a:extLst xmlns:a="http://schemas.openxmlformats.org/drawingml/2006/main">
              <a:ext uri="{FF2B5EF4-FFF2-40B4-BE49-F238E27FC236}">
                <a16:creationId xmlns:a16="http://schemas.microsoft.com/office/drawing/2014/main" id="{D6351A5E-272A-4222-AAF4-45FAB5E03D0D}"/>
              </a:ext>
            </a:extLst>
          </p:cNvPr>
          <p:cNvSpPr>
            <a:spLocks xmlns:a="http://schemas.openxmlformats.org/drawingml/2006/main" noGrp="1"/>
          </p:cNvSpPr>
          <p:nvPr/>
        </p:nvSpPr>
        <p:spPr>
          <a:xfrm xmlns:a="http://schemas.openxmlformats.org/drawingml/2006/main">
            <a:off x="609600" y="4667250"/>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For mixed teams</a:t>
            </a:r>
          </a:p>
        </p:txBody>
      </p:sp>
      <p:sp>
        <p:nvSpPr>
          <p:cNvPr id="8" name="">
            <a:extLst xmlns:a="http://schemas.openxmlformats.org/drawingml/2006/main">
              <a:ext uri="{FF2B5EF4-FFF2-40B4-BE49-F238E27FC236}">
                <a16:creationId xmlns:a16="http://schemas.microsoft.com/office/drawing/2014/main" id="{F855974B-2ABB-4B68-A43B-CA3AE81F9522}"/>
              </a:ext>
            </a:extLst>
          </p:cNvPr>
          <p:cNvSpPr>
            <a:spLocks xmlns:a="http://schemas.openxmlformats.org/drawingml/2006/main" noGrp="1"/>
          </p:cNvSpPr>
          <p:nvPr/>
        </p:nvSpPr>
        <p:spPr>
          <a:xfrm xmlns:a="http://schemas.openxmlformats.org/drawingml/2006/main">
            <a:off x="3276600" y="4667250"/>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I prefer a shared infrastructure boundary: containers, VMs, or dedicated hardware.</a:t>
            </a:r>
          </a:p>
        </p:txBody>
      </p:sp>
    </p:spTree>
    <p:extLst>
      <p:ext uri="{BB962C8B-B14F-4D97-AF65-F5344CB8AC3E}">
        <p14:creationId xmlns:p14="http://schemas.microsoft.com/office/powerpoint/2010/main" val="74855509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5A7E7F5-0558-4382-81DC-ACB20EA4DFB7}"/>
              </a:ext>
            </a:extLst>
          </p:cNvPr>
          <p:cNvSpPr>
            <a:spLocks xmlns:a="http://schemas.openxmlformats.org/drawingml/2006/main" noGrp="1"/>
          </p:cNvSpPr>
          <p:nvPr/>
        </p:nvSpPr>
        <p:spPr>
          <a:xfrm xmlns:a="http://schemas.openxmlformats.org/drawingml/2006/main">
            <a:off x="609600" y="457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2B3A"/>
                </a:solidFill>
                <a:latin typeface="Helvetica Neue"/>
                <a:ea typeface="Helvetica Neue"/>
                <a:cs typeface="Helvetica Neue"/>
              </a:defRPr>
            </a:pPr>
            <a:r>
              <a:rPr sz="3300" b="1">
                <a:solidFill>
                  <a:srgbClr val="182B3A"/>
                </a:solidFill>
                <a:latin typeface="Helvetica Neue"/>
                <a:ea typeface="Helvetica Neue"/>
                <a:cs typeface="Helvetica Neue"/>
              </a:rPr>
              <a:t>The failure we want to contain</a:t>
            </a:r>
          </a:p>
        </p:txBody>
      </p:sp>
      <p:sp>
        <p:nvSpPr>
          <p:cNvPr id="2" name="">
            <a:extLst xmlns:a="http://schemas.openxmlformats.org/drawingml/2006/main">
              <a:ext uri="{FF2B5EF4-FFF2-40B4-BE49-F238E27FC236}">
                <a16:creationId xmlns:a16="http://schemas.microsoft.com/office/drawing/2014/main" id="{369F91A0-275B-48A6-B5BC-04ACF7C78CA0}"/>
              </a:ext>
            </a:extLst>
          </p:cNvPr>
          <p:cNvSpPr>
            <a:spLocks xmlns:a="http://schemas.openxmlformats.org/drawingml/2006/main" noGrp="1"/>
          </p:cNvSpPr>
          <p:nvPr/>
        </p:nvSpPr>
        <p:spPr>
          <a:xfrm xmlns:a="http://schemas.openxmlformats.org/drawingml/2006/main">
            <a:off x="609600" y="63817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75"/>
                </a:solidFill>
                <a:latin typeface="Helvetica Neue"/>
                <a:ea typeface="Helvetica Neue"/>
                <a:cs typeface="Helvetica Neue"/>
              </a:defRPr>
            </a:pPr>
            <a:r>
              <a:rPr sz="1200" b="0">
                <a:solidFill>
                  <a:srgbClr val="566675"/>
                </a:solidFill>
                <a:latin typeface="Helvetica Neue"/>
                <a:ea typeface="Helvetica Neue"/>
                <a:cs typeface="Helvetica Neue"/>
              </a:rPr>
              <a:t>Session 3  /  Sandboxing</a:t>
            </a:r>
          </a:p>
        </p:txBody>
      </p:sp>
      <p:sp>
        <p:nvSpPr>
          <p:cNvPr id="3" name="">
            <a:extLst xmlns:a="http://schemas.openxmlformats.org/drawingml/2006/main">
              <a:ext uri="{FF2B5EF4-FFF2-40B4-BE49-F238E27FC236}">
                <a16:creationId xmlns:a16="http://schemas.microsoft.com/office/drawing/2014/main" id="{9FE142B2-9F7A-45F8-9E4B-0685FD518227}"/>
              </a:ext>
            </a:extLst>
          </p:cNvPr>
          <p:cNvSpPr>
            <a:spLocks xmlns:a="http://schemas.openxmlformats.org/drawingml/2006/main" noGrp="1"/>
          </p:cNvSpPr>
          <p:nvPr/>
        </p:nvSpPr>
        <p:spPr>
          <a:xfrm xmlns:a="http://schemas.openxmlformats.org/drawingml/2006/main">
            <a:off x="110109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75"/>
                </a:solidFill>
                <a:latin typeface="Helvetica Neue"/>
                <a:ea typeface="Helvetica Neue"/>
                <a:cs typeface="Helvetica Neue"/>
              </a:defRPr>
            </a:pPr>
            <a:r>
              <a:rPr sz="1200" b="0">
                <a:solidFill>
                  <a:srgbClr val="566675"/>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2DD809E1-E827-4F71-A5AC-DD3C5D8028E6}"/>
              </a:ext>
            </a:extLst>
          </p:cNvPr>
          <p:cNvSpPr>
            <a:spLocks xmlns:a="http://schemas.openxmlformats.org/drawingml/2006/main" noGrp="1"/>
          </p:cNvSpPr>
          <p:nvPr/>
        </p:nvSpPr>
        <p:spPr>
          <a:xfrm xmlns:a="http://schemas.openxmlformats.org/drawingml/2006/main">
            <a:off x="609600" y="1752600"/>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Trigger</a:t>
            </a:r>
          </a:p>
        </p:txBody>
      </p:sp>
      <p:sp>
        <p:nvSpPr>
          <p:cNvPr id="5" name="">
            <a:extLst xmlns:a="http://schemas.openxmlformats.org/drawingml/2006/main">
              <a:ext uri="{FF2B5EF4-FFF2-40B4-BE49-F238E27FC236}">
                <a16:creationId xmlns:a16="http://schemas.microsoft.com/office/drawing/2014/main" id="{8F65C533-5FE3-4CD3-A319-E08EB210173D}"/>
              </a:ext>
            </a:extLst>
          </p:cNvPr>
          <p:cNvSpPr>
            <a:spLocks xmlns:a="http://schemas.openxmlformats.org/drawingml/2006/main" noGrp="1"/>
          </p:cNvSpPr>
          <p:nvPr/>
        </p:nvSpPr>
        <p:spPr>
          <a:xfrm xmlns:a="http://schemas.openxmlformats.org/drawingml/2006/main">
            <a:off x="3276600" y="1752600"/>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A dependency script or injected instruction causes an unwanted action.</a:t>
            </a:r>
          </a:p>
        </p:txBody>
      </p:sp>
      <p:sp>
        <p:nvSpPr>
          <p:cNvPr id="6" name="">
            <a:extLst xmlns:a="http://schemas.openxmlformats.org/drawingml/2006/main">
              <a:ext uri="{FF2B5EF4-FFF2-40B4-BE49-F238E27FC236}">
                <a16:creationId xmlns:a16="http://schemas.microsoft.com/office/drawing/2014/main" id="{4842155A-3403-47DF-B2D9-761D7A818761}"/>
              </a:ext>
            </a:extLst>
          </p:cNvPr>
          <p:cNvSpPr>
            <a:spLocks xmlns:a="http://schemas.openxmlformats.org/drawingml/2006/main" noGrp="1"/>
          </p:cNvSpPr>
          <p:nvPr/>
        </p:nvSpPr>
        <p:spPr>
          <a:xfrm xmlns:a="http://schemas.openxmlformats.org/drawingml/2006/main">
            <a:off x="609600" y="2781300"/>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Assets at risk</a:t>
            </a:r>
          </a:p>
        </p:txBody>
      </p:sp>
      <p:sp>
        <p:nvSpPr>
          <p:cNvPr id="7" name="">
            <a:extLst xmlns:a="http://schemas.openxmlformats.org/drawingml/2006/main">
              <a:ext uri="{FF2B5EF4-FFF2-40B4-BE49-F238E27FC236}">
                <a16:creationId xmlns:a16="http://schemas.microsoft.com/office/drawing/2014/main" id="{34287F15-5B7C-4C0F-9862-3C744219CC0A}"/>
              </a:ext>
            </a:extLst>
          </p:cNvPr>
          <p:cNvSpPr>
            <a:spLocks xmlns:a="http://schemas.openxmlformats.org/drawingml/2006/main" noGrp="1"/>
          </p:cNvSpPr>
          <p:nvPr/>
        </p:nvSpPr>
        <p:spPr>
          <a:xfrm xmlns:a="http://schemas.openxmlformats.org/drawingml/2006/main">
            <a:off x="3276600" y="2781300"/>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Source code, local credentials, internal services, customer data.</a:t>
            </a:r>
          </a:p>
        </p:txBody>
      </p:sp>
      <p:sp>
        <p:nvSpPr>
          <p:cNvPr id="8" name="">
            <a:extLst xmlns:a="http://schemas.openxmlformats.org/drawingml/2006/main">
              <a:ext uri="{FF2B5EF4-FFF2-40B4-BE49-F238E27FC236}">
                <a16:creationId xmlns:a16="http://schemas.microsoft.com/office/drawing/2014/main" id="{790F933C-D13F-400F-A3B0-3E1A5720689A}"/>
              </a:ext>
            </a:extLst>
          </p:cNvPr>
          <p:cNvSpPr>
            <a:spLocks xmlns:a="http://schemas.openxmlformats.org/drawingml/2006/main" noGrp="1"/>
          </p:cNvSpPr>
          <p:nvPr/>
        </p:nvSpPr>
        <p:spPr>
          <a:xfrm xmlns:a="http://schemas.openxmlformats.org/drawingml/2006/main">
            <a:off x="609600" y="3810000"/>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Desired result</a:t>
            </a:r>
          </a:p>
        </p:txBody>
      </p:sp>
      <p:sp>
        <p:nvSpPr>
          <p:cNvPr id="9" name="">
            <a:extLst xmlns:a="http://schemas.openxmlformats.org/drawingml/2006/main">
              <a:ext uri="{FF2B5EF4-FFF2-40B4-BE49-F238E27FC236}">
                <a16:creationId xmlns:a16="http://schemas.microsoft.com/office/drawing/2014/main" id="{BAB1464F-F3CF-4633-8068-9A488DB8B2AD}"/>
              </a:ext>
            </a:extLst>
          </p:cNvPr>
          <p:cNvSpPr>
            <a:spLocks xmlns:a="http://schemas.openxmlformats.org/drawingml/2006/main" noGrp="1"/>
          </p:cNvSpPr>
          <p:nvPr/>
        </p:nvSpPr>
        <p:spPr>
          <a:xfrm xmlns:a="http://schemas.openxmlformats.org/drawingml/2006/main">
            <a:off x="3276600" y="3810000"/>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The action can reach only the resources allocated to this task.</a:t>
            </a:r>
          </a:p>
        </p:txBody>
      </p:sp>
      <p:sp>
        <p:nvSpPr>
          <p:cNvPr id="10" name="">
            <a:extLst xmlns:a="http://schemas.openxmlformats.org/drawingml/2006/main">
              <a:ext uri="{FF2B5EF4-FFF2-40B4-BE49-F238E27FC236}">
                <a16:creationId xmlns:a16="http://schemas.microsoft.com/office/drawing/2014/main" id="{97F7BAC8-A07E-41A6-A6F2-47BB4EA68376}"/>
              </a:ext>
            </a:extLst>
          </p:cNvPr>
          <p:cNvSpPr>
            <a:spLocks xmlns:a="http://schemas.openxmlformats.org/drawingml/2006/main" noGrp="1"/>
          </p:cNvSpPr>
          <p:nvPr/>
        </p:nvSpPr>
        <p:spPr>
          <a:xfrm xmlns:a="http://schemas.openxmlformats.org/drawingml/2006/main">
            <a:off x="609600" y="4838700"/>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Residual risk</a:t>
            </a:r>
          </a:p>
        </p:txBody>
      </p:sp>
      <p:sp>
        <p:nvSpPr>
          <p:cNvPr id="11" name="">
            <a:extLst xmlns:a="http://schemas.openxmlformats.org/drawingml/2006/main">
              <a:ext uri="{FF2B5EF4-FFF2-40B4-BE49-F238E27FC236}">
                <a16:creationId xmlns:a16="http://schemas.microsoft.com/office/drawing/2014/main" id="{6382AE55-292F-40F5-A40C-36AB4249E7C7}"/>
              </a:ext>
            </a:extLst>
          </p:cNvPr>
          <p:cNvSpPr>
            <a:spLocks xmlns:a="http://schemas.openxmlformats.org/drawingml/2006/main" noGrp="1"/>
          </p:cNvSpPr>
          <p:nvPr/>
        </p:nvSpPr>
        <p:spPr>
          <a:xfrm xmlns:a="http://schemas.openxmlformats.org/drawingml/2006/main">
            <a:off x="3276600" y="4838700"/>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A writable project and an authorized API can still suffer damage.</a:t>
            </a:r>
          </a:p>
        </p:txBody>
      </p:sp>
    </p:spTree>
    <p:extLst>
      <p:ext uri="{BB962C8B-B14F-4D97-AF65-F5344CB8AC3E}">
        <p14:creationId xmlns:p14="http://schemas.microsoft.com/office/powerpoint/2010/main" val="123308001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7099B78-FEA1-46A1-A94D-BE2DFFCB0343}"/>
              </a:ext>
            </a:extLst>
          </p:cNvPr>
          <p:cNvSpPr>
            <a:spLocks xmlns:a="http://schemas.openxmlformats.org/drawingml/2006/main" noGrp="1"/>
          </p:cNvSpPr>
          <p:nvPr/>
        </p:nvSpPr>
        <p:spPr>
          <a:xfrm xmlns:a="http://schemas.openxmlformats.org/drawingml/2006/main">
            <a:off x="609600" y="457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2B3A"/>
                </a:solidFill>
                <a:latin typeface="Helvetica Neue"/>
                <a:ea typeface="Helvetica Neue"/>
                <a:cs typeface="Helvetica Neue"/>
              </a:defRPr>
            </a:pPr>
            <a:r>
              <a:rPr sz="3300" b="1">
                <a:solidFill>
                  <a:srgbClr val="182B3A"/>
                </a:solidFill>
                <a:latin typeface="Helvetica Neue"/>
                <a:ea typeface="Helvetica Neue"/>
                <a:cs typeface="Helvetica Neue"/>
              </a:rPr>
              <a:t>Different controls, different jobs</a:t>
            </a:r>
          </a:p>
        </p:txBody>
      </p:sp>
      <p:sp>
        <p:nvSpPr>
          <p:cNvPr id="2" name="">
            <a:extLst xmlns:a="http://schemas.openxmlformats.org/drawingml/2006/main">
              <a:ext uri="{FF2B5EF4-FFF2-40B4-BE49-F238E27FC236}">
                <a16:creationId xmlns:a16="http://schemas.microsoft.com/office/drawing/2014/main" id="{1EE25448-412A-4BEA-8732-20FCA55304F0}"/>
              </a:ext>
            </a:extLst>
          </p:cNvPr>
          <p:cNvSpPr>
            <a:spLocks xmlns:a="http://schemas.openxmlformats.org/drawingml/2006/main" noGrp="1"/>
          </p:cNvSpPr>
          <p:nvPr/>
        </p:nvSpPr>
        <p:spPr>
          <a:xfrm xmlns:a="http://schemas.openxmlformats.org/drawingml/2006/main">
            <a:off x="609600" y="63817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75"/>
                </a:solidFill>
                <a:latin typeface="Helvetica Neue"/>
                <a:ea typeface="Helvetica Neue"/>
                <a:cs typeface="Helvetica Neue"/>
              </a:defRPr>
            </a:pPr>
            <a:r>
              <a:rPr sz="1200" b="0">
                <a:solidFill>
                  <a:srgbClr val="566675"/>
                </a:solidFill>
                <a:latin typeface="Helvetica Neue"/>
                <a:ea typeface="Helvetica Neue"/>
                <a:cs typeface="Helvetica Neue"/>
              </a:rPr>
              <a:t>Session 3  /  Sandboxing</a:t>
            </a:r>
          </a:p>
        </p:txBody>
      </p:sp>
      <p:sp>
        <p:nvSpPr>
          <p:cNvPr id="3" name="">
            <a:extLst xmlns:a="http://schemas.openxmlformats.org/drawingml/2006/main">
              <a:ext uri="{FF2B5EF4-FFF2-40B4-BE49-F238E27FC236}">
                <a16:creationId xmlns:a16="http://schemas.microsoft.com/office/drawing/2014/main" id="{A4D8BA3F-0FFC-4395-A317-9CA1D92E0FD2}"/>
              </a:ext>
            </a:extLst>
          </p:cNvPr>
          <p:cNvSpPr>
            <a:spLocks xmlns:a="http://schemas.openxmlformats.org/drawingml/2006/main" noGrp="1"/>
          </p:cNvSpPr>
          <p:nvPr/>
        </p:nvSpPr>
        <p:spPr>
          <a:xfrm xmlns:a="http://schemas.openxmlformats.org/drawingml/2006/main">
            <a:off x="110109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75"/>
                </a:solidFill>
                <a:latin typeface="Helvetica Neue"/>
                <a:ea typeface="Helvetica Neue"/>
                <a:cs typeface="Helvetica Neue"/>
              </a:defRPr>
            </a:pPr>
            <a:r>
              <a:rPr sz="1200" b="0">
                <a:solidFill>
                  <a:srgbClr val="566675"/>
                </a:solidFill>
                <a:latin typeface="Helvetica Neue"/>
                <a:ea typeface="Helvetica Neue"/>
                <a:cs typeface="Helvetica Neue"/>
              </a:rPr>
              <a:t>04</a:t>
            </a:r>
          </a:p>
        </p:txBody>
      </p:sp>
      <p:graphicFrame>
        <p:nvGraphicFramePr>
          <p:cNvPr id="8" name=""/>
          <p:cNvGraphicFramePr/>
          <p:nvPr/>
        </p:nvGraphicFramePr>
        <p:xfrm>
          <a:off xmlns:a="http://schemas.openxmlformats.org/drawingml/2006/main" x="609600" y="1752600"/>
          <a:ext xmlns:a="http://schemas.openxmlformats.org/drawingml/2006/main" cx="10972800" cy="3905250"/>
        </p:xfrm>
        <a:graphic xmlns:a="http://schemas.openxmlformats.org/drawingml/2006/main">
          <a:graphicData uri="http://schemas.openxmlformats.org/drawingml/2006/table">
            <a:tbl>
              <a:tblPr/>
              <a:tblGrid>
                <a:gridCol w="2619375"/>
                <a:gridCol w="4429125"/>
                <a:gridCol w="3924300"/>
              </a:tblGrid>
              <a:tr h="781050">
                <a:tc>
                  <a:txBody>
                    <a:bodyPr/>
                    <a:lstStyle/>
                    <a:p>
                      <a:r>
                        <a:rPr sz="1875" b="1">
                          <a:solidFill>
                            <a:srgbClr val="182B3A"/>
                          </a:solidFill>
                          <a:latin typeface="Helvetica Neue"/>
                          <a:ea typeface="Helvetica Neue"/>
                          <a:cs typeface="Helvetica Neue"/>
                        </a:rPr>
                        <a:t>Layer</a:t>
                      </a:r>
                    </a:p>
                  </a:txBody>
                  <a:tcPr marL="91440" marR="91440" marT="45720" marB="45720">
                    <a:solidFill>
                      <a:srgbClr val="EAF1F3"/>
                    </a:solidFill>
                  </a:tcPr>
                </a:tc>
                <a:tc>
                  <a:txBody>
                    <a:bodyPr/>
                    <a:lstStyle/>
                    <a:p>
                      <a:r>
                        <a:rPr sz="1875" b="1">
                          <a:solidFill>
                            <a:srgbClr val="182B3A"/>
                          </a:solidFill>
                          <a:latin typeface="Helvetica Neue"/>
                          <a:ea typeface="Helvetica Neue"/>
                          <a:cs typeface="Helvetica Neue"/>
                        </a:rPr>
                        <a:t>Question it answers</a:t>
                      </a:r>
                    </a:p>
                  </a:txBody>
                  <a:tcPr marL="91440" marR="91440" marT="45720" marB="45720">
                    <a:solidFill>
                      <a:srgbClr val="EAF1F3"/>
                    </a:solidFill>
                  </a:tcPr>
                </a:tc>
                <a:tc>
                  <a:txBody>
                    <a:bodyPr/>
                    <a:lstStyle/>
                    <a:p>
                      <a:r>
                        <a:rPr sz="1875" b="1">
                          <a:solidFill>
                            <a:srgbClr val="182B3A"/>
                          </a:solidFill>
                          <a:latin typeface="Helvetica Neue"/>
                          <a:ea typeface="Helvetica Neue"/>
                          <a:cs typeface="Helvetica Neue"/>
                        </a:rPr>
                        <a:t>Typical control</a:t>
                      </a:r>
                    </a:p>
                  </a:txBody>
                  <a:tcPr marL="91440" marR="91440" marT="45720" marB="45720">
                    <a:solidFill>
                      <a:srgbClr val="EAF1F3"/>
                    </a:solidFill>
                  </a:tcPr>
                </a:tc>
              </a:tr>
              <a:tr h="781050">
                <a:tc>
                  <a:txBody>
                    <a:bodyPr/>
                    <a:lstStyle/>
                    <a:p>
                      <a:r>
                        <a:rPr sz="1875" b="0">
                          <a:solidFill>
                            <a:srgbClr val="182B3A"/>
                          </a:solidFill>
                          <a:latin typeface="Helvetica Neue"/>
                          <a:ea typeface="Helvetica Neue"/>
                          <a:cs typeface="Helvetica Neue"/>
                        </a:rPr>
                        <a:t>Instructions</a:t>
                      </a:r>
                    </a:p>
                  </a:txBody>
                  <a:tcPr marL="91440" marR="91440" marT="45720" marB="45720">
                    <a:solidFill>
                      <a:srgbClr val="FFFFFF"/>
                    </a:solidFill>
                  </a:tcPr>
                </a:tc>
                <a:tc>
                  <a:txBody>
                    <a:bodyPr/>
                    <a:lstStyle/>
                    <a:p>
                      <a:r>
                        <a:rPr sz="1875" b="0">
                          <a:solidFill>
                            <a:srgbClr val="182B3A"/>
                          </a:solidFill>
                          <a:latin typeface="Helvetica Neue"/>
                          <a:ea typeface="Helvetica Neue"/>
                          <a:cs typeface="Helvetica Neue"/>
                        </a:rPr>
                        <a:t>What should the agent do?</a:t>
                      </a:r>
                    </a:p>
                  </a:txBody>
                  <a:tcPr marL="91440" marR="91440" marT="45720" marB="45720">
                    <a:solidFill>
                      <a:srgbClr val="FFFFFF"/>
                    </a:solidFill>
                  </a:tcPr>
                </a:tc>
                <a:tc>
                  <a:txBody>
                    <a:bodyPr/>
                    <a:lstStyle/>
                    <a:p>
                      <a:r>
                        <a:rPr sz="1875" b="0">
                          <a:solidFill>
                            <a:srgbClr val="182B3A"/>
                          </a:solidFill>
                          <a:latin typeface="Helvetica Neue"/>
                          <a:ea typeface="Helvetica Neue"/>
                          <a:cs typeface="Helvetica Neue"/>
                        </a:rPr>
                        <a:t>Prompt, CLAUDE.md</a:t>
                      </a:r>
                    </a:p>
                  </a:txBody>
                  <a:tcPr marL="91440" marR="91440" marT="45720" marB="45720">
                    <a:solidFill>
                      <a:srgbClr val="FFFFFF"/>
                    </a:solidFill>
                  </a:tcPr>
                </a:tc>
              </a:tr>
              <a:tr h="781050">
                <a:tc>
                  <a:txBody>
                    <a:bodyPr/>
                    <a:lstStyle/>
                    <a:p>
                      <a:r>
                        <a:rPr sz="1875" b="0">
                          <a:solidFill>
                            <a:srgbClr val="182B3A"/>
                          </a:solidFill>
                          <a:latin typeface="Helvetica Neue"/>
                          <a:ea typeface="Helvetica Neue"/>
                          <a:cs typeface="Helvetica Neue"/>
                        </a:rPr>
                        <a:t>Tool permissions</a:t>
                      </a:r>
                    </a:p>
                  </a:txBody>
                  <a:tcPr marL="91440" marR="91440" marT="45720" marB="45720">
                    <a:solidFill>
                      <a:srgbClr val="FFFFFF"/>
                    </a:solidFill>
                  </a:tcPr>
                </a:tc>
                <a:tc>
                  <a:txBody>
                    <a:bodyPr/>
                    <a:lstStyle/>
                    <a:p>
                      <a:r>
                        <a:rPr sz="1875" b="0">
                          <a:solidFill>
                            <a:srgbClr val="182B3A"/>
                          </a:solidFill>
                          <a:latin typeface="Helvetica Neue"/>
                          <a:ea typeface="Helvetica Neue"/>
                          <a:cs typeface="Helvetica Neue"/>
                        </a:rPr>
                        <a:t>May this tool call run?</a:t>
                      </a:r>
                    </a:p>
                  </a:txBody>
                  <a:tcPr marL="91440" marR="91440" marT="45720" marB="45720">
                    <a:solidFill>
                      <a:srgbClr val="FFFFFF"/>
                    </a:solidFill>
                  </a:tcPr>
                </a:tc>
                <a:tc>
                  <a:txBody>
                    <a:bodyPr/>
                    <a:lstStyle/>
                    <a:p>
                      <a:r>
                        <a:rPr sz="1875" b="0">
                          <a:solidFill>
                            <a:srgbClr val="182B3A"/>
                          </a:solidFill>
                          <a:latin typeface="Helvetica Neue"/>
                          <a:ea typeface="Helvetica Neue"/>
                          <a:cs typeface="Helvetica Neue"/>
                        </a:rPr>
                        <a:t>Allow / ask / deny</a:t>
                      </a:r>
                    </a:p>
                  </a:txBody>
                  <a:tcPr marL="91440" marR="91440" marT="45720" marB="45720">
                    <a:solidFill>
                      <a:srgbClr val="FFFFFF"/>
                    </a:solidFill>
                  </a:tcPr>
                </a:tc>
              </a:tr>
              <a:tr h="781050">
                <a:tc>
                  <a:txBody>
                    <a:bodyPr/>
                    <a:lstStyle/>
                    <a:p>
                      <a:r>
                        <a:rPr sz="1875" b="0">
                          <a:solidFill>
                            <a:srgbClr val="182B3A"/>
                          </a:solidFill>
                          <a:latin typeface="Helvetica Neue"/>
                          <a:ea typeface="Helvetica Neue"/>
                          <a:cs typeface="Helvetica Neue"/>
                        </a:rPr>
                        <a:t>Execution isolation</a:t>
                      </a:r>
                    </a:p>
                  </a:txBody>
                  <a:tcPr marL="91440" marR="91440" marT="45720" marB="45720">
                    <a:solidFill>
                      <a:srgbClr val="FFFFFF"/>
                    </a:solidFill>
                  </a:tcPr>
                </a:tc>
                <a:tc>
                  <a:txBody>
                    <a:bodyPr/>
                    <a:lstStyle/>
                    <a:p>
                      <a:r>
                        <a:rPr sz="1875" b="0">
                          <a:solidFill>
                            <a:srgbClr val="182B3A"/>
                          </a:solidFill>
                          <a:latin typeface="Helvetica Neue"/>
                          <a:ea typeface="Helvetica Neue"/>
                          <a:cs typeface="Helvetica Neue"/>
                        </a:rPr>
                        <a:t>What can the process reach?</a:t>
                      </a:r>
                    </a:p>
                  </a:txBody>
                  <a:tcPr marL="91440" marR="91440" marT="45720" marB="45720">
                    <a:solidFill>
                      <a:srgbClr val="FFFFFF"/>
                    </a:solidFill>
                  </a:tcPr>
                </a:tc>
                <a:tc>
                  <a:txBody>
                    <a:bodyPr/>
                    <a:lstStyle/>
                    <a:p>
                      <a:r>
                        <a:rPr sz="1875" b="0">
                          <a:solidFill>
                            <a:srgbClr val="182B3A"/>
                          </a:solidFill>
                          <a:latin typeface="Helvetica Neue"/>
                          <a:ea typeface="Helvetica Neue"/>
                          <a:cs typeface="Helvetica Neue"/>
                        </a:rPr>
                        <a:t>Paths, network, OS boundary</a:t>
                      </a:r>
                    </a:p>
                  </a:txBody>
                  <a:tcPr marL="91440" marR="91440" marT="45720" marB="45720">
                    <a:solidFill>
                      <a:srgbClr val="FFFFFF"/>
                    </a:solidFill>
                  </a:tcPr>
                </a:tc>
              </a:tr>
              <a:tr h="781050">
                <a:tc>
                  <a:txBody>
                    <a:bodyPr/>
                    <a:lstStyle/>
                    <a:p>
                      <a:r>
                        <a:rPr sz="1875" b="0">
                          <a:solidFill>
                            <a:srgbClr val="182B3A"/>
                          </a:solidFill>
                          <a:latin typeface="Helvetica Neue"/>
                          <a:ea typeface="Helvetica Neue"/>
                          <a:cs typeface="Helvetica Neue"/>
                        </a:rPr>
                        <a:t>Service authorization</a:t>
                      </a:r>
                    </a:p>
                  </a:txBody>
                  <a:tcPr marL="91440" marR="91440" marT="45720" marB="45720">
                    <a:solidFill>
                      <a:srgbClr val="FFFFFF"/>
                    </a:solidFill>
                  </a:tcPr>
                </a:tc>
                <a:tc>
                  <a:txBody>
                    <a:bodyPr/>
                    <a:lstStyle/>
                    <a:p>
                      <a:r>
                        <a:rPr sz="1875" b="0">
                          <a:solidFill>
                            <a:srgbClr val="182B3A"/>
                          </a:solidFill>
                          <a:latin typeface="Helvetica Neue"/>
                          <a:ea typeface="Helvetica Neue"/>
                          <a:cs typeface="Helvetica Neue"/>
                        </a:rPr>
                        <a:t>What may this identity do?</a:t>
                      </a:r>
                    </a:p>
                  </a:txBody>
                  <a:tcPr marL="91440" marR="91440" marT="45720" marB="45720">
                    <a:solidFill>
                      <a:srgbClr val="FFFFFF"/>
                    </a:solidFill>
                  </a:tcPr>
                </a:tc>
                <a:tc>
                  <a:txBody>
                    <a:bodyPr/>
                    <a:lstStyle/>
                    <a:p>
                      <a:r>
                        <a:rPr sz="1875" b="0">
                          <a:solidFill>
                            <a:srgbClr val="182B3A"/>
                          </a:solidFill>
                          <a:latin typeface="Helvetica Neue"/>
                          <a:ea typeface="Helvetica Neue"/>
                          <a:cs typeface="Helvetica Neue"/>
                        </a:rPr>
                        <a:t>Token scope, server policy</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00944350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6CE96C9-407A-41D9-9BFD-35646CF94E61}"/>
              </a:ext>
            </a:extLst>
          </p:cNvPr>
          <p:cNvSpPr>
            <a:spLocks xmlns:a="http://schemas.openxmlformats.org/drawingml/2006/main" noGrp="1"/>
          </p:cNvSpPr>
          <p:nvPr/>
        </p:nvSpPr>
        <p:spPr>
          <a:xfrm xmlns:a="http://schemas.openxmlformats.org/drawingml/2006/main">
            <a:off x="609600" y="457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2B3A"/>
                </a:solidFill>
                <a:latin typeface="Helvetica Neue"/>
                <a:ea typeface="Helvetica Neue"/>
                <a:cs typeface="Helvetica Neue"/>
              </a:defRPr>
            </a:pPr>
            <a:r>
              <a:rPr sz="3300" b="1">
                <a:solidFill>
                  <a:srgbClr val="182B3A"/>
                </a:solidFill>
                <a:latin typeface="Helvetica Neue"/>
                <a:ea typeface="Helvetica Neue"/>
                <a:cs typeface="Helvetica Neue"/>
              </a:rPr>
              <a:t>The built-in Bash sandbox</a:t>
            </a:r>
          </a:p>
        </p:txBody>
      </p:sp>
      <p:sp>
        <p:nvSpPr>
          <p:cNvPr id="2" name="">
            <a:extLst xmlns:a="http://schemas.openxmlformats.org/drawingml/2006/main">
              <a:ext uri="{FF2B5EF4-FFF2-40B4-BE49-F238E27FC236}">
                <a16:creationId xmlns:a16="http://schemas.microsoft.com/office/drawing/2014/main" id="{581A1392-A714-476D-802B-C737AAABD68B}"/>
              </a:ext>
            </a:extLst>
          </p:cNvPr>
          <p:cNvSpPr>
            <a:spLocks xmlns:a="http://schemas.openxmlformats.org/drawingml/2006/main" noGrp="1"/>
          </p:cNvSpPr>
          <p:nvPr/>
        </p:nvSpPr>
        <p:spPr>
          <a:xfrm xmlns:a="http://schemas.openxmlformats.org/drawingml/2006/main">
            <a:off x="609600" y="63817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75"/>
                </a:solidFill>
                <a:latin typeface="Helvetica Neue"/>
                <a:ea typeface="Helvetica Neue"/>
                <a:cs typeface="Helvetica Neue"/>
              </a:defRPr>
            </a:pPr>
            <a:r>
              <a:rPr sz="1200" b="0">
                <a:solidFill>
                  <a:srgbClr val="566675"/>
                </a:solidFill>
                <a:latin typeface="Helvetica Neue"/>
                <a:ea typeface="Helvetica Neue"/>
                <a:cs typeface="Helvetica Neue"/>
              </a:rPr>
              <a:t>Session 3  /  Sandboxing</a:t>
            </a:r>
          </a:p>
        </p:txBody>
      </p:sp>
      <p:sp>
        <p:nvSpPr>
          <p:cNvPr id="3" name="">
            <a:extLst xmlns:a="http://schemas.openxmlformats.org/drawingml/2006/main">
              <a:ext uri="{FF2B5EF4-FFF2-40B4-BE49-F238E27FC236}">
                <a16:creationId xmlns:a16="http://schemas.microsoft.com/office/drawing/2014/main" id="{0967975E-7C7E-4B74-BBD3-C95B04471EB5}"/>
              </a:ext>
            </a:extLst>
          </p:cNvPr>
          <p:cNvSpPr>
            <a:spLocks xmlns:a="http://schemas.openxmlformats.org/drawingml/2006/main" noGrp="1"/>
          </p:cNvSpPr>
          <p:nvPr/>
        </p:nvSpPr>
        <p:spPr>
          <a:xfrm xmlns:a="http://schemas.openxmlformats.org/drawingml/2006/main">
            <a:off x="110109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75"/>
                </a:solidFill>
                <a:latin typeface="Helvetica Neue"/>
                <a:ea typeface="Helvetica Neue"/>
                <a:cs typeface="Helvetica Neue"/>
              </a:defRPr>
            </a:pPr>
            <a:r>
              <a:rPr sz="1200" b="0">
                <a:solidFill>
                  <a:srgbClr val="566675"/>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A4B29373-67CE-4AF7-9C50-F101F5F0CCD8}"/>
              </a:ext>
            </a:extLst>
          </p:cNvPr>
          <p:cNvSpPr>
            <a:spLocks xmlns:a="http://schemas.openxmlformats.org/drawingml/2006/main" noGrp="1"/>
          </p:cNvSpPr>
          <p:nvPr/>
        </p:nvSpPr>
        <p:spPr>
          <a:xfrm xmlns:a="http://schemas.openxmlformats.org/drawingml/2006/main">
            <a:off x="609600" y="1752600"/>
            <a:ext cx="10858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26D77"/>
                </a:solidFill>
                <a:latin typeface="Helvetica Neue"/>
                <a:ea typeface="Helvetica Neue"/>
                <a:cs typeface="Helvetica Neue"/>
              </a:defRPr>
            </a:pPr>
            <a:r>
              <a:rPr sz="2550" b="1">
                <a:solidFill>
                  <a:srgbClr val="126D77"/>
                </a:solidFill>
                <a:latin typeface="Helvetica Neue"/>
                <a:ea typeface="Helvetica Neue"/>
                <a:cs typeface="Helvetica Neue"/>
              </a:rPr>
              <a:t>OS restrictions around Bash and its child processes</a:t>
            </a:r>
          </a:p>
        </p:txBody>
      </p:sp>
      <p:sp>
        <p:nvSpPr>
          <p:cNvPr id="5" name="">
            <a:extLst xmlns:a="http://schemas.openxmlformats.org/drawingml/2006/main">
              <a:ext uri="{FF2B5EF4-FFF2-40B4-BE49-F238E27FC236}">
                <a16:creationId xmlns:a16="http://schemas.microsoft.com/office/drawing/2014/main" id="{00B9EFD2-5831-4990-A3CE-1E31C4E271CC}"/>
              </a:ext>
            </a:extLst>
          </p:cNvPr>
          <p:cNvSpPr>
            <a:spLocks xmlns:a="http://schemas.openxmlformats.org/drawingml/2006/main" noGrp="1"/>
          </p:cNvSpPr>
          <p:nvPr/>
        </p:nvSpPr>
        <p:spPr>
          <a:xfrm xmlns:a="http://schemas.openxmlformats.org/drawingml/2006/main">
            <a:off x="609600" y="24955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2B3A"/>
                </a:solidFill>
                <a:latin typeface="Helvetica Neue"/>
                <a:ea typeface="Helvetica Neue"/>
                <a:cs typeface="Helvetica Neue"/>
              </a:defRPr>
            </a:pPr>
            <a:r>
              <a:rPr sz="1875" b="0">
                <a:solidFill>
                  <a:srgbClr val="182B3A"/>
                </a:solidFill>
                <a:latin typeface="Helvetica Neue"/>
                <a:ea typeface="Helvetica Neue"/>
                <a:cs typeface="Helvetica Neue"/>
              </a:rPr>
              <a:t>File tools, local MCP servers and hooks need separate controls.</a:t>
            </a:r>
          </a:p>
        </p:txBody>
      </p:sp>
      <p:graphicFrame>
        <p:nvGraphicFramePr>
          <p:cNvPr id="13" name=""/>
          <p:cNvGraphicFramePr/>
          <p:nvPr/>
        </p:nvGraphicFramePr>
        <p:xfrm>
          <a:off xmlns:a="http://schemas.openxmlformats.org/drawingml/2006/main" x="609600" y="2952750"/>
          <a:ext xmlns:a="http://schemas.openxmlformats.org/drawingml/2006/main" cx="10972800" cy="2667000"/>
        </p:xfrm>
        <a:graphic xmlns:a="http://schemas.openxmlformats.org/drawingml/2006/main">
          <a:graphicData uri="http://schemas.openxmlformats.org/drawingml/2006/table">
            <a:tbl>
              <a:tblPr/>
              <a:tblGrid>
                <a:gridCol w="3476625"/>
                <a:gridCol w="7496175"/>
              </a:tblGrid>
              <a:tr h="666750">
                <a:tc>
                  <a:txBody>
                    <a:bodyPr/>
                    <a:lstStyle/>
                    <a:p>
                      <a:r>
                        <a:rPr sz="1875" b="1">
                          <a:solidFill>
                            <a:srgbClr val="182B3A"/>
                          </a:solidFill>
                          <a:latin typeface="Helvetica Neue"/>
                          <a:ea typeface="Helvetica Neue"/>
                          <a:cs typeface="Helvetica Neue"/>
                        </a:rPr>
                        <a:t>Platform</a:t>
                      </a:r>
                    </a:p>
                  </a:txBody>
                  <a:tcPr marL="91440" marR="91440" marT="45720" marB="45720">
                    <a:solidFill>
                      <a:srgbClr val="EAF1F3"/>
                    </a:solidFill>
                  </a:tcPr>
                </a:tc>
                <a:tc>
                  <a:txBody>
                    <a:bodyPr/>
                    <a:lstStyle/>
                    <a:p>
                      <a:r>
                        <a:rPr sz="1875" b="1">
                          <a:solidFill>
                            <a:srgbClr val="182B3A"/>
                          </a:solidFill>
                          <a:latin typeface="Helvetica Neue"/>
                          <a:ea typeface="Helvetica Neue"/>
                          <a:cs typeface="Helvetica Neue"/>
                        </a:rPr>
                        <a:t>Mechanism / requirement</a:t>
                      </a:r>
                    </a:p>
                  </a:txBody>
                  <a:tcPr marL="91440" marR="91440" marT="45720" marB="45720">
                    <a:solidFill>
                      <a:srgbClr val="EAF1F3"/>
                    </a:solidFill>
                  </a:tcPr>
                </a:tc>
              </a:tr>
              <a:tr h="666750">
                <a:tc>
                  <a:txBody>
                    <a:bodyPr/>
                    <a:lstStyle/>
                    <a:p>
                      <a:r>
                        <a:rPr sz="1875" b="0">
                          <a:solidFill>
                            <a:srgbClr val="182B3A"/>
                          </a:solidFill>
                          <a:latin typeface="Helvetica Neue"/>
                          <a:ea typeface="Helvetica Neue"/>
                          <a:cs typeface="Helvetica Neue"/>
                        </a:rPr>
                        <a:t>macOS</a:t>
                      </a:r>
                    </a:p>
                  </a:txBody>
                  <a:tcPr marL="91440" marR="91440" marT="45720" marB="45720">
                    <a:solidFill>
                      <a:srgbClr val="FFFFFF"/>
                    </a:solidFill>
                  </a:tcPr>
                </a:tc>
                <a:tc>
                  <a:txBody>
                    <a:bodyPr/>
                    <a:lstStyle/>
                    <a:p>
                      <a:r>
                        <a:rPr sz="1875" b="0">
                          <a:solidFill>
                            <a:srgbClr val="182B3A"/>
                          </a:solidFill>
                          <a:latin typeface="Helvetica Neue"/>
                          <a:ea typeface="Helvetica Neue"/>
                          <a:cs typeface="Helvetica Neue"/>
                        </a:rPr>
                        <a:t>Seatbelt, provided by macOS</a:t>
                      </a:r>
                    </a:p>
                  </a:txBody>
                  <a:tcPr marL="91440" marR="91440" marT="45720" marB="45720">
                    <a:solidFill>
                      <a:srgbClr val="FFFFFF"/>
                    </a:solidFill>
                  </a:tcPr>
                </a:tc>
              </a:tr>
              <a:tr h="666750">
                <a:tc>
                  <a:txBody>
                    <a:bodyPr/>
                    <a:lstStyle/>
                    <a:p>
                      <a:r>
                        <a:rPr sz="1875" b="0">
                          <a:solidFill>
                            <a:srgbClr val="182B3A"/>
                          </a:solidFill>
                          <a:latin typeface="Helvetica Neue"/>
                          <a:ea typeface="Helvetica Neue"/>
                          <a:cs typeface="Helvetica Neue"/>
                        </a:rPr>
                        <a:t>Linux and WSL2</a:t>
                      </a:r>
                    </a:p>
                  </a:txBody>
                  <a:tcPr marL="91440" marR="91440" marT="45720" marB="45720">
                    <a:solidFill>
                      <a:srgbClr val="FFFFFF"/>
                    </a:solidFill>
                  </a:tcPr>
                </a:tc>
                <a:tc>
                  <a:txBody>
                    <a:bodyPr/>
                    <a:lstStyle/>
                    <a:p>
                      <a:r>
                        <a:rPr sz="1875" b="0">
                          <a:solidFill>
                            <a:srgbClr val="182B3A"/>
                          </a:solidFill>
                          <a:latin typeface="Helvetica Neue"/>
                          <a:ea typeface="Helvetica Neue"/>
                          <a:cs typeface="Helvetica Neue"/>
                        </a:rPr>
                        <a:t>bubblewrap + socat</a:t>
                      </a:r>
                    </a:p>
                  </a:txBody>
                  <a:tcPr marL="91440" marR="91440" marT="45720" marB="45720">
                    <a:solidFill>
                      <a:srgbClr val="FFFFFF"/>
                    </a:solidFill>
                  </a:tcPr>
                </a:tc>
              </a:tr>
              <a:tr h="666750">
                <a:tc>
                  <a:txBody>
                    <a:bodyPr/>
                    <a:lstStyle/>
                    <a:p>
                      <a:r>
                        <a:rPr sz="1875" b="0">
                          <a:solidFill>
                            <a:srgbClr val="182B3A"/>
                          </a:solidFill>
                          <a:latin typeface="Helvetica Neue"/>
                          <a:ea typeface="Helvetica Neue"/>
                          <a:cs typeface="Helvetica Neue"/>
                        </a:rPr>
                        <a:t>Native Windows / WSL1</a:t>
                      </a:r>
                    </a:p>
                  </a:txBody>
                  <a:tcPr marL="91440" marR="91440" marT="45720" marB="45720">
                    <a:solidFill>
                      <a:srgbClr val="FFFFFF"/>
                    </a:solidFill>
                  </a:tcPr>
                </a:tc>
                <a:tc>
                  <a:txBody>
                    <a:bodyPr/>
                    <a:lstStyle/>
                    <a:p>
                      <a:r>
                        <a:rPr sz="1875" b="0">
                          <a:solidFill>
                            <a:srgbClr val="182B3A"/>
                          </a:solidFill>
                          <a:latin typeface="Helvetica Neue"/>
                          <a:ea typeface="Helvetica Neue"/>
                          <a:cs typeface="Helvetica Neue"/>
                        </a:rPr>
                        <a:t>Use another environment</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0D695F12-A0BB-400D-B0B4-EBF01E29FE26}"/>
              </a:ext>
            </a:extLst>
          </p:cNvPr>
          <p:cNvSpPr>
            <a:spLocks xmlns:a="http://schemas.openxmlformats.org/drawingml/2006/main" noGrp="1"/>
          </p:cNvSpPr>
          <p:nvPr/>
        </p:nvSpPr>
        <p:spPr>
          <a:xfrm xmlns:a="http://schemas.openxmlformats.org/drawingml/2006/main">
            <a:off x="609600" y="58102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26D77"/>
                </a:solidFill>
                <a:latin typeface="Helvetica Neue"/>
                <a:ea typeface="Helvetica Neue"/>
                <a:cs typeface="Helvetica Neue"/>
              </a:defRPr>
            </a:pPr>
            <a:r>
              <a:rPr sz="1875" b="1">
                <a:solidFill>
                  <a:srgbClr val="126D77"/>
                </a:solidFill>
                <a:latin typeface="Helvetica Neue"/>
                <a:ea typeface="Helvetica Neue"/>
                <a:cs typeface="Helvetica Neue"/>
              </a:rPr>
              <a:t>Entry point: /sandbox</a:t>
            </a:r>
          </a:p>
        </p:txBody>
      </p:sp>
    </p:spTree>
    <p:extLst>
      <p:ext uri="{BB962C8B-B14F-4D97-AF65-F5344CB8AC3E}">
        <p14:creationId xmlns:p14="http://schemas.microsoft.com/office/powerpoint/2010/main" val="111468554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F6B42B7-5D54-4ACE-9849-1FCADF91F6C7}"/>
              </a:ext>
            </a:extLst>
          </p:cNvPr>
          <p:cNvSpPr>
            <a:spLocks xmlns:a="http://schemas.openxmlformats.org/drawingml/2006/main" noGrp="1"/>
          </p:cNvSpPr>
          <p:nvPr/>
        </p:nvSpPr>
        <p:spPr>
          <a:xfrm xmlns:a="http://schemas.openxmlformats.org/drawingml/2006/main">
            <a:off x="609600" y="457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2B3A"/>
                </a:solidFill>
                <a:latin typeface="Helvetica Neue"/>
                <a:ea typeface="Helvetica Neue"/>
                <a:cs typeface="Helvetica Neue"/>
              </a:defRPr>
            </a:pPr>
            <a:r>
              <a:rPr sz="3300" b="1">
                <a:solidFill>
                  <a:srgbClr val="182B3A"/>
                </a:solidFill>
                <a:latin typeface="Helvetica Neue"/>
                <a:ea typeface="Helvetica Neue"/>
                <a:cs typeface="Helvetica Neue"/>
              </a:rPr>
              <a:t>Files and credentials</a:t>
            </a:r>
          </a:p>
        </p:txBody>
      </p:sp>
      <p:sp>
        <p:nvSpPr>
          <p:cNvPr id="2" name="">
            <a:extLst xmlns:a="http://schemas.openxmlformats.org/drawingml/2006/main">
              <a:ext uri="{FF2B5EF4-FFF2-40B4-BE49-F238E27FC236}">
                <a16:creationId xmlns:a16="http://schemas.microsoft.com/office/drawing/2014/main" id="{6DECD01C-62A3-4E8D-8D48-A545EFA3D1F4}"/>
              </a:ext>
            </a:extLst>
          </p:cNvPr>
          <p:cNvSpPr>
            <a:spLocks xmlns:a="http://schemas.openxmlformats.org/drawingml/2006/main" noGrp="1"/>
          </p:cNvSpPr>
          <p:nvPr/>
        </p:nvSpPr>
        <p:spPr>
          <a:xfrm xmlns:a="http://schemas.openxmlformats.org/drawingml/2006/main">
            <a:off x="609600" y="63817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75"/>
                </a:solidFill>
                <a:latin typeface="Helvetica Neue"/>
                <a:ea typeface="Helvetica Neue"/>
                <a:cs typeface="Helvetica Neue"/>
              </a:defRPr>
            </a:pPr>
            <a:r>
              <a:rPr sz="1200" b="0">
                <a:solidFill>
                  <a:srgbClr val="566675"/>
                </a:solidFill>
                <a:latin typeface="Helvetica Neue"/>
                <a:ea typeface="Helvetica Neue"/>
                <a:cs typeface="Helvetica Neue"/>
              </a:rPr>
              <a:t>Session 3  /  Sandboxing</a:t>
            </a:r>
          </a:p>
        </p:txBody>
      </p:sp>
      <p:sp>
        <p:nvSpPr>
          <p:cNvPr id="3" name="">
            <a:extLst xmlns:a="http://schemas.openxmlformats.org/drawingml/2006/main">
              <a:ext uri="{FF2B5EF4-FFF2-40B4-BE49-F238E27FC236}">
                <a16:creationId xmlns:a16="http://schemas.microsoft.com/office/drawing/2014/main" id="{8AEBECE6-3B8B-4764-9846-672D08A6CDDB}"/>
              </a:ext>
            </a:extLst>
          </p:cNvPr>
          <p:cNvSpPr>
            <a:spLocks xmlns:a="http://schemas.openxmlformats.org/drawingml/2006/main" noGrp="1"/>
          </p:cNvSpPr>
          <p:nvPr/>
        </p:nvSpPr>
        <p:spPr>
          <a:xfrm xmlns:a="http://schemas.openxmlformats.org/drawingml/2006/main">
            <a:off x="110109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75"/>
                </a:solidFill>
                <a:latin typeface="Helvetica Neue"/>
                <a:ea typeface="Helvetica Neue"/>
                <a:cs typeface="Helvetica Neue"/>
              </a:defRPr>
            </a:pPr>
            <a:r>
              <a:rPr sz="1200" b="0">
                <a:solidFill>
                  <a:srgbClr val="566675"/>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F61E38F3-DE57-44FC-8A01-2E838E633899}"/>
              </a:ext>
            </a:extLst>
          </p:cNvPr>
          <p:cNvSpPr>
            <a:spLocks xmlns:a="http://schemas.openxmlformats.org/drawingml/2006/main" noGrp="1"/>
          </p:cNvSpPr>
          <p:nvPr/>
        </p:nvSpPr>
        <p:spPr>
          <a:xfrm xmlns:a="http://schemas.openxmlformats.org/drawingml/2006/main">
            <a:off x="609600" y="1752600"/>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Writes</a:t>
            </a:r>
          </a:p>
        </p:txBody>
      </p:sp>
      <p:sp>
        <p:nvSpPr>
          <p:cNvPr id="5" name="">
            <a:extLst xmlns:a="http://schemas.openxmlformats.org/drawingml/2006/main">
              <a:ext uri="{FF2B5EF4-FFF2-40B4-BE49-F238E27FC236}">
                <a16:creationId xmlns:a16="http://schemas.microsoft.com/office/drawing/2014/main" id="{1C88EFE7-D197-4E4B-AA61-CFE7CB4D6DE8}"/>
              </a:ext>
            </a:extLst>
          </p:cNvPr>
          <p:cNvSpPr>
            <a:spLocks xmlns:a="http://schemas.openxmlformats.org/drawingml/2006/main" noGrp="1"/>
          </p:cNvSpPr>
          <p:nvPr/>
        </p:nvSpPr>
        <p:spPr>
          <a:xfrm xmlns:a="http://schemas.openxmlformats.org/drawingml/2006/main">
            <a:off x="3276600" y="1752600"/>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Workspace, added directories and session temp storage by default.</a:t>
            </a:r>
          </a:p>
        </p:txBody>
      </p:sp>
      <p:sp>
        <p:nvSpPr>
          <p:cNvPr id="6" name="">
            <a:extLst xmlns:a="http://schemas.openxmlformats.org/drawingml/2006/main">
              <a:ext uri="{FF2B5EF4-FFF2-40B4-BE49-F238E27FC236}">
                <a16:creationId xmlns:a16="http://schemas.microsoft.com/office/drawing/2014/main" id="{79C0C76E-971A-4662-AB13-B4B83247C43E}"/>
              </a:ext>
            </a:extLst>
          </p:cNvPr>
          <p:cNvSpPr>
            <a:spLocks xmlns:a="http://schemas.openxmlformats.org/drawingml/2006/main" noGrp="1"/>
          </p:cNvSpPr>
          <p:nvPr/>
        </p:nvSpPr>
        <p:spPr>
          <a:xfrm xmlns:a="http://schemas.openxmlformats.org/drawingml/2006/main">
            <a:off x="609600" y="2781300"/>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Reads</a:t>
            </a:r>
          </a:p>
        </p:txBody>
      </p:sp>
      <p:sp>
        <p:nvSpPr>
          <p:cNvPr id="7" name="">
            <a:extLst xmlns:a="http://schemas.openxmlformats.org/drawingml/2006/main">
              <a:ext uri="{FF2B5EF4-FFF2-40B4-BE49-F238E27FC236}">
                <a16:creationId xmlns:a16="http://schemas.microsoft.com/office/drawing/2014/main" id="{735DF593-4406-44EA-B3CD-850571C73B51}"/>
              </a:ext>
            </a:extLst>
          </p:cNvPr>
          <p:cNvSpPr>
            <a:spLocks xmlns:a="http://schemas.openxmlformats.org/drawingml/2006/main" noGrp="1"/>
          </p:cNvSpPr>
          <p:nvPr/>
        </p:nvSpPr>
        <p:spPr>
          <a:xfrm xmlns:a="http://schemas.openxmlformats.org/drawingml/2006/main">
            <a:off x="3276600" y="2781300"/>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Broad by default. Explicitly restrict sensitive paths.</a:t>
            </a:r>
          </a:p>
        </p:txBody>
      </p:sp>
      <p:sp>
        <p:nvSpPr>
          <p:cNvPr id="8" name="">
            <a:extLst xmlns:a="http://schemas.openxmlformats.org/drawingml/2006/main">
              <a:ext uri="{FF2B5EF4-FFF2-40B4-BE49-F238E27FC236}">
                <a16:creationId xmlns:a16="http://schemas.microsoft.com/office/drawing/2014/main" id="{0C71216A-E69A-493E-9489-0E006417528B}"/>
              </a:ext>
            </a:extLst>
          </p:cNvPr>
          <p:cNvSpPr>
            <a:spLocks xmlns:a="http://schemas.openxmlformats.org/drawingml/2006/main" noGrp="1"/>
          </p:cNvSpPr>
          <p:nvPr/>
        </p:nvSpPr>
        <p:spPr>
          <a:xfrm xmlns:a="http://schemas.openxmlformats.org/drawingml/2006/main">
            <a:off x="609600" y="3810000"/>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Credentials</a:t>
            </a:r>
          </a:p>
        </p:txBody>
      </p:sp>
      <p:sp>
        <p:nvSpPr>
          <p:cNvPr id="9" name="">
            <a:extLst xmlns:a="http://schemas.openxmlformats.org/drawingml/2006/main">
              <a:ext uri="{FF2B5EF4-FFF2-40B4-BE49-F238E27FC236}">
                <a16:creationId xmlns:a16="http://schemas.microsoft.com/office/drawing/2014/main" id="{81B6341D-4FCE-4000-B817-EAE0D4D18C4E}"/>
              </a:ext>
            </a:extLst>
          </p:cNvPr>
          <p:cNvSpPr>
            <a:spLocks xmlns:a="http://schemas.openxmlformats.org/drawingml/2006/main" noGrp="1"/>
          </p:cNvSpPr>
          <p:nvPr/>
        </p:nvSpPr>
        <p:spPr>
          <a:xfrm xmlns:a="http://schemas.openxmlformats.org/drawingml/2006/main">
            <a:off x="3276600" y="3810000"/>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Deny files or variables. Masking adds proxy-based substitution.</a:t>
            </a:r>
          </a:p>
        </p:txBody>
      </p:sp>
      <p:sp>
        <p:nvSpPr>
          <p:cNvPr id="10" name="">
            <a:extLst xmlns:a="http://schemas.openxmlformats.org/drawingml/2006/main">
              <a:ext uri="{FF2B5EF4-FFF2-40B4-BE49-F238E27FC236}">
                <a16:creationId xmlns:a16="http://schemas.microsoft.com/office/drawing/2014/main" id="{DCF4A6E2-118A-40C1-A766-E40437F69597}"/>
              </a:ext>
            </a:extLst>
          </p:cNvPr>
          <p:cNvSpPr>
            <a:spLocks xmlns:a="http://schemas.openxmlformats.org/drawingml/2006/main" noGrp="1"/>
          </p:cNvSpPr>
          <p:nvPr/>
        </p:nvSpPr>
        <p:spPr>
          <a:xfrm xmlns:a="http://schemas.openxmlformats.org/drawingml/2006/main">
            <a:off x="609600" y="4838700"/>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Policy review</a:t>
            </a:r>
          </a:p>
        </p:txBody>
      </p:sp>
      <p:sp>
        <p:nvSpPr>
          <p:cNvPr id="11" name="">
            <a:extLst xmlns:a="http://schemas.openxmlformats.org/drawingml/2006/main">
              <a:ext uri="{FF2B5EF4-FFF2-40B4-BE49-F238E27FC236}">
                <a16:creationId xmlns:a16="http://schemas.microsoft.com/office/drawing/2014/main" id="{A9236A95-3B68-4F08-BEC6-B60F8CAB3309}"/>
              </a:ext>
            </a:extLst>
          </p:cNvPr>
          <p:cNvSpPr>
            <a:spLocks xmlns:a="http://schemas.openxmlformats.org/drawingml/2006/main" noGrp="1"/>
          </p:cNvSpPr>
          <p:nvPr/>
        </p:nvSpPr>
        <p:spPr>
          <a:xfrm xmlns:a="http://schemas.openxmlformats.org/drawingml/2006/main">
            <a:off x="3276600" y="4838700"/>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Check exceptions, protected paths and platform-specific behavior.</a:t>
            </a:r>
          </a:p>
        </p:txBody>
      </p:sp>
    </p:spTree>
    <p:extLst>
      <p:ext uri="{BB962C8B-B14F-4D97-AF65-F5344CB8AC3E}">
        <p14:creationId xmlns:p14="http://schemas.microsoft.com/office/powerpoint/2010/main" val="97098100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37AA71F-CD48-46C9-ABA4-E0772CF7A2B5}"/>
              </a:ext>
            </a:extLst>
          </p:cNvPr>
          <p:cNvSpPr>
            <a:spLocks xmlns:a="http://schemas.openxmlformats.org/drawingml/2006/main" noGrp="1"/>
          </p:cNvSpPr>
          <p:nvPr/>
        </p:nvSpPr>
        <p:spPr>
          <a:xfrm xmlns:a="http://schemas.openxmlformats.org/drawingml/2006/main">
            <a:off x="609600" y="457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2B3A"/>
                </a:solidFill>
                <a:latin typeface="Helvetica Neue"/>
                <a:ea typeface="Helvetica Neue"/>
                <a:cs typeface="Helvetica Neue"/>
              </a:defRPr>
            </a:pPr>
            <a:r>
              <a:rPr sz="3300" b="1">
                <a:solidFill>
                  <a:srgbClr val="182B3A"/>
                </a:solidFill>
                <a:latin typeface="Helvetica Neue"/>
                <a:ea typeface="Helvetica Neue"/>
                <a:cs typeface="Helvetica Neue"/>
              </a:rPr>
              <a:t>Demo 1: one blocked file write</a:t>
            </a:r>
          </a:p>
        </p:txBody>
      </p:sp>
      <p:sp>
        <p:nvSpPr>
          <p:cNvPr id="2" name="">
            <a:extLst xmlns:a="http://schemas.openxmlformats.org/drawingml/2006/main">
              <a:ext uri="{FF2B5EF4-FFF2-40B4-BE49-F238E27FC236}">
                <a16:creationId xmlns:a16="http://schemas.microsoft.com/office/drawing/2014/main" id="{B5E975B6-F1C6-4E22-A9CB-AC439D0259BE}"/>
              </a:ext>
            </a:extLst>
          </p:cNvPr>
          <p:cNvSpPr>
            <a:spLocks xmlns:a="http://schemas.openxmlformats.org/drawingml/2006/main" noGrp="1"/>
          </p:cNvSpPr>
          <p:nvPr/>
        </p:nvSpPr>
        <p:spPr>
          <a:xfrm xmlns:a="http://schemas.openxmlformats.org/drawingml/2006/main">
            <a:off x="609600" y="63817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75"/>
                </a:solidFill>
                <a:latin typeface="Helvetica Neue"/>
                <a:ea typeface="Helvetica Neue"/>
                <a:cs typeface="Helvetica Neue"/>
              </a:defRPr>
            </a:pPr>
            <a:r>
              <a:rPr sz="1200" b="0">
                <a:solidFill>
                  <a:srgbClr val="566675"/>
                </a:solidFill>
                <a:latin typeface="Helvetica Neue"/>
                <a:ea typeface="Helvetica Neue"/>
                <a:cs typeface="Helvetica Neue"/>
              </a:rPr>
              <a:t>Session 3  /  Sandboxing</a:t>
            </a:r>
          </a:p>
        </p:txBody>
      </p:sp>
      <p:sp>
        <p:nvSpPr>
          <p:cNvPr id="3" name="">
            <a:extLst xmlns:a="http://schemas.openxmlformats.org/drawingml/2006/main">
              <a:ext uri="{FF2B5EF4-FFF2-40B4-BE49-F238E27FC236}">
                <a16:creationId xmlns:a16="http://schemas.microsoft.com/office/drawing/2014/main" id="{A95C867C-A7BD-4A10-885B-5A8BE7EEB28F}"/>
              </a:ext>
            </a:extLst>
          </p:cNvPr>
          <p:cNvSpPr>
            <a:spLocks xmlns:a="http://schemas.openxmlformats.org/drawingml/2006/main" noGrp="1"/>
          </p:cNvSpPr>
          <p:nvPr/>
        </p:nvSpPr>
        <p:spPr>
          <a:xfrm xmlns:a="http://schemas.openxmlformats.org/drawingml/2006/main">
            <a:off x="110109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75"/>
                </a:solidFill>
                <a:latin typeface="Helvetica Neue"/>
                <a:ea typeface="Helvetica Neue"/>
                <a:cs typeface="Helvetica Neue"/>
              </a:defRPr>
            </a:pPr>
            <a:r>
              <a:rPr sz="1200" b="0">
                <a:solidFill>
                  <a:srgbClr val="566675"/>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8F29722C-D889-4EEB-A73D-16798A8FDE4E}"/>
              </a:ext>
            </a:extLst>
          </p:cNvPr>
          <p:cNvSpPr>
            <a:spLocks xmlns:a="http://schemas.openxmlformats.org/drawingml/2006/main" noGrp="1"/>
          </p:cNvSpPr>
          <p:nvPr/>
        </p:nvSpPr>
        <p:spPr>
          <a:xfrm xmlns:a="http://schemas.openxmlformats.org/drawingml/2006/main">
            <a:off x="609600" y="1752600"/>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Setup</a:t>
            </a:r>
          </a:p>
        </p:txBody>
      </p:sp>
      <p:sp>
        <p:nvSpPr>
          <p:cNvPr id="5" name="">
            <a:extLst xmlns:a="http://schemas.openxmlformats.org/drawingml/2006/main">
              <a:ext uri="{FF2B5EF4-FFF2-40B4-BE49-F238E27FC236}">
                <a16:creationId xmlns:a16="http://schemas.microsoft.com/office/drawing/2014/main" id="{3F83E2F8-0D3B-40EC-82B9-D0664D84EB3A}"/>
              </a:ext>
            </a:extLst>
          </p:cNvPr>
          <p:cNvSpPr>
            <a:spLocks xmlns:a="http://schemas.openxmlformats.org/drawingml/2006/main" noGrp="1"/>
          </p:cNvSpPr>
          <p:nvPr/>
        </p:nvSpPr>
        <p:spPr>
          <a:xfrm xmlns:a="http://schemas.openxmlformats.org/drawingml/2006/main">
            <a:off x="3276600" y="1752600"/>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Disposable workspace, a denied folder inside it, an unlisted sibling.</a:t>
            </a:r>
          </a:p>
        </p:txBody>
      </p:sp>
      <p:sp>
        <p:nvSpPr>
          <p:cNvPr id="6" name="">
            <a:extLst xmlns:a="http://schemas.openxmlformats.org/drawingml/2006/main">
              <a:ext uri="{FF2B5EF4-FFF2-40B4-BE49-F238E27FC236}">
                <a16:creationId xmlns:a16="http://schemas.microsoft.com/office/drawing/2014/main" id="{57E80BCB-7C07-493A-B6E8-8C299E83288C}"/>
              </a:ext>
            </a:extLst>
          </p:cNvPr>
          <p:cNvSpPr>
            <a:spLocks xmlns:a="http://schemas.openxmlformats.org/drawingml/2006/main" noGrp="1"/>
          </p:cNvSpPr>
          <p:nvPr/>
        </p:nvSpPr>
        <p:spPr>
          <a:xfrm xmlns:a="http://schemas.openxmlformats.org/drawingml/2006/main">
            <a:off x="609600" y="2781300"/>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Action</a:t>
            </a:r>
          </a:p>
        </p:txBody>
      </p:sp>
      <p:sp>
        <p:nvSpPr>
          <p:cNvPr id="7" name="">
            <a:extLst xmlns:a="http://schemas.openxmlformats.org/drawingml/2006/main">
              <a:ext uri="{FF2B5EF4-FFF2-40B4-BE49-F238E27FC236}">
                <a16:creationId xmlns:a16="http://schemas.microsoft.com/office/drawing/2014/main" id="{51380C25-0C27-4738-BDB1-7328302EEBD4}"/>
              </a:ext>
            </a:extLst>
          </p:cNvPr>
          <p:cNvSpPr>
            <a:spLocks xmlns:a="http://schemas.openxmlformats.org/drawingml/2006/main" noGrp="1"/>
          </p:cNvSpPr>
          <p:nvPr/>
        </p:nvSpPr>
        <p:spPr>
          <a:xfrm xmlns:a="http://schemas.openxmlformats.org/drawingml/2006/main">
            <a:off x="3276600" y="2781300"/>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Run the same write through Bash against all three locations.</a:t>
            </a:r>
          </a:p>
        </p:txBody>
      </p:sp>
      <p:sp>
        <p:nvSpPr>
          <p:cNvPr id="8" name="">
            <a:extLst xmlns:a="http://schemas.openxmlformats.org/drawingml/2006/main">
              <a:ext uri="{FF2B5EF4-FFF2-40B4-BE49-F238E27FC236}">
                <a16:creationId xmlns:a16="http://schemas.microsoft.com/office/drawing/2014/main" id="{A6D7731F-D5A6-4851-819E-9674F0AD6148}"/>
              </a:ext>
            </a:extLst>
          </p:cNvPr>
          <p:cNvSpPr>
            <a:spLocks xmlns:a="http://schemas.openxmlformats.org/drawingml/2006/main" noGrp="1"/>
          </p:cNvSpPr>
          <p:nvPr/>
        </p:nvSpPr>
        <p:spPr>
          <a:xfrm xmlns:a="http://schemas.openxmlformats.org/drawingml/2006/main">
            <a:off x="609600" y="3810000"/>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Expected</a:t>
            </a:r>
          </a:p>
        </p:txBody>
      </p:sp>
      <p:sp>
        <p:nvSpPr>
          <p:cNvPr id="9" name="">
            <a:extLst xmlns:a="http://schemas.openxmlformats.org/drawingml/2006/main">
              <a:ext uri="{FF2B5EF4-FFF2-40B4-BE49-F238E27FC236}">
                <a16:creationId xmlns:a16="http://schemas.microsoft.com/office/drawing/2014/main" id="{A078B2C2-31FF-4BBC-B711-65B0786326FA}"/>
              </a:ext>
            </a:extLst>
          </p:cNvPr>
          <p:cNvSpPr>
            <a:spLocks xmlns:a="http://schemas.openxmlformats.org/drawingml/2006/main" noGrp="1"/>
          </p:cNvSpPr>
          <p:nvPr/>
        </p:nvSpPr>
        <p:spPr>
          <a:xfrm xmlns:a="http://schemas.openxmlformats.org/drawingml/2006/main">
            <a:off x="3276600" y="3810000"/>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Workspace: succeeds. Denied folder and sibling: OS error.</a:t>
            </a:r>
          </a:p>
        </p:txBody>
      </p:sp>
      <p:sp>
        <p:nvSpPr>
          <p:cNvPr id="10" name="">
            <a:extLst xmlns:a="http://schemas.openxmlformats.org/drawingml/2006/main">
              <a:ext uri="{FF2B5EF4-FFF2-40B4-BE49-F238E27FC236}">
                <a16:creationId xmlns:a16="http://schemas.microsoft.com/office/drawing/2014/main" id="{CD2839ED-C6F7-4310-BDCE-8B5A8657FBB9}"/>
              </a:ext>
            </a:extLst>
          </p:cNvPr>
          <p:cNvSpPr>
            <a:spLocks xmlns:a="http://schemas.openxmlformats.org/drawingml/2006/main" noGrp="1"/>
          </p:cNvSpPr>
          <p:nvPr/>
        </p:nvSpPr>
        <p:spPr>
          <a:xfrm xmlns:a="http://schemas.openxmlformats.org/drawingml/2006/main">
            <a:off x="609600" y="4838700"/>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One lesson</a:t>
            </a:r>
          </a:p>
        </p:txBody>
      </p:sp>
      <p:sp>
        <p:nvSpPr>
          <p:cNvPr id="11" name="">
            <a:extLst xmlns:a="http://schemas.openxmlformats.org/drawingml/2006/main">
              <a:ext uri="{FF2B5EF4-FFF2-40B4-BE49-F238E27FC236}">
                <a16:creationId xmlns:a16="http://schemas.microsoft.com/office/drawing/2014/main" id="{80C1731F-1264-43CF-AF97-49BEA9880AFE}"/>
              </a:ext>
            </a:extLst>
          </p:cNvPr>
          <p:cNvSpPr>
            <a:spLocks xmlns:a="http://schemas.openxmlformats.org/drawingml/2006/main" noGrp="1"/>
          </p:cNvSpPr>
          <p:nvPr/>
        </p:nvSpPr>
        <p:spPr>
          <a:xfrm xmlns:a="http://schemas.openxmlformats.org/drawingml/2006/main">
            <a:off x="3276600" y="4838700"/>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An allowed tool call can still hit an enforced file boundary.</a:t>
            </a:r>
          </a:p>
        </p:txBody>
      </p:sp>
    </p:spTree>
    <p:extLst>
      <p:ext uri="{BB962C8B-B14F-4D97-AF65-F5344CB8AC3E}">
        <p14:creationId xmlns:p14="http://schemas.microsoft.com/office/powerpoint/2010/main" val="196510697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58C3A2B-BDE9-49A5-A060-FBA126377264}"/>
              </a:ext>
            </a:extLst>
          </p:cNvPr>
          <p:cNvSpPr>
            <a:spLocks xmlns:a="http://schemas.openxmlformats.org/drawingml/2006/main" noGrp="1"/>
          </p:cNvSpPr>
          <p:nvPr/>
        </p:nvSpPr>
        <p:spPr>
          <a:xfrm xmlns:a="http://schemas.openxmlformats.org/drawingml/2006/main">
            <a:off x="609600" y="457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2B3A"/>
                </a:solidFill>
                <a:latin typeface="Helvetica Neue"/>
                <a:ea typeface="Helvetica Neue"/>
                <a:cs typeface="Helvetica Neue"/>
              </a:defRPr>
            </a:pPr>
            <a:r>
              <a:rPr sz="3300" b="1">
                <a:solidFill>
                  <a:srgbClr val="182B3A"/>
                </a:solidFill>
                <a:latin typeface="Helvetica Neue"/>
                <a:ea typeface="Helvetica Neue"/>
                <a:cs typeface="Helvetica Neue"/>
              </a:rPr>
              <a:t>Network access</a:t>
            </a:r>
          </a:p>
        </p:txBody>
      </p:sp>
      <p:sp>
        <p:nvSpPr>
          <p:cNvPr id="2" name="">
            <a:extLst xmlns:a="http://schemas.openxmlformats.org/drawingml/2006/main">
              <a:ext uri="{FF2B5EF4-FFF2-40B4-BE49-F238E27FC236}">
                <a16:creationId xmlns:a16="http://schemas.microsoft.com/office/drawing/2014/main" id="{55E4CE12-0BBF-4A1E-B9CD-DDB2CAC07671}"/>
              </a:ext>
            </a:extLst>
          </p:cNvPr>
          <p:cNvSpPr>
            <a:spLocks xmlns:a="http://schemas.openxmlformats.org/drawingml/2006/main" noGrp="1"/>
          </p:cNvSpPr>
          <p:nvPr/>
        </p:nvSpPr>
        <p:spPr>
          <a:xfrm xmlns:a="http://schemas.openxmlformats.org/drawingml/2006/main">
            <a:off x="609600" y="63817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75"/>
                </a:solidFill>
                <a:latin typeface="Helvetica Neue"/>
                <a:ea typeface="Helvetica Neue"/>
                <a:cs typeface="Helvetica Neue"/>
              </a:defRPr>
            </a:pPr>
            <a:r>
              <a:rPr sz="1200" b="0">
                <a:solidFill>
                  <a:srgbClr val="566675"/>
                </a:solidFill>
                <a:latin typeface="Helvetica Neue"/>
                <a:ea typeface="Helvetica Neue"/>
                <a:cs typeface="Helvetica Neue"/>
              </a:rPr>
              <a:t>Session 3  /  Sandboxing</a:t>
            </a:r>
          </a:p>
        </p:txBody>
      </p:sp>
      <p:sp>
        <p:nvSpPr>
          <p:cNvPr id="3" name="">
            <a:extLst xmlns:a="http://schemas.openxmlformats.org/drawingml/2006/main">
              <a:ext uri="{FF2B5EF4-FFF2-40B4-BE49-F238E27FC236}">
                <a16:creationId xmlns:a16="http://schemas.microsoft.com/office/drawing/2014/main" id="{987C9529-3FE2-4978-9B69-4DF22FD9FB9B}"/>
              </a:ext>
            </a:extLst>
          </p:cNvPr>
          <p:cNvSpPr>
            <a:spLocks xmlns:a="http://schemas.openxmlformats.org/drawingml/2006/main" noGrp="1"/>
          </p:cNvSpPr>
          <p:nvPr/>
        </p:nvSpPr>
        <p:spPr>
          <a:xfrm xmlns:a="http://schemas.openxmlformats.org/drawingml/2006/main">
            <a:off x="110109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75"/>
                </a:solidFill>
                <a:latin typeface="Helvetica Neue"/>
                <a:ea typeface="Helvetica Neue"/>
                <a:cs typeface="Helvetica Neue"/>
              </a:defRPr>
            </a:pPr>
            <a:r>
              <a:rPr sz="1200" b="0">
                <a:solidFill>
                  <a:srgbClr val="566675"/>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A9EC0611-8D52-448D-99EC-C11DF5895BD3}"/>
              </a:ext>
            </a:extLst>
          </p:cNvPr>
          <p:cNvSpPr>
            <a:spLocks xmlns:a="http://schemas.openxmlformats.org/drawingml/2006/main" noGrp="1"/>
          </p:cNvSpPr>
          <p:nvPr/>
        </p:nvSpPr>
        <p:spPr>
          <a:xfrm xmlns:a="http://schemas.openxmlformats.org/drawingml/2006/main">
            <a:off x="609600" y="1752600"/>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Allowed destinations</a:t>
            </a:r>
          </a:p>
        </p:txBody>
      </p:sp>
      <p:sp>
        <p:nvSpPr>
          <p:cNvPr id="5" name="">
            <a:extLst xmlns:a="http://schemas.openxmlformats.org/drawingml/2006/main">
              <a:ext uri="{FF2B5EF4-FFF2-40B4-BE49-F238E27FC236}">
                <a16:creationId xmlns:a16="http://schemas.microsoft.com/office/drawing/2014/main" id="{C404FFC2-2052-4C84-8B80-CF61ECADDAD6}"/>
              </a:ext>
            </a:extLst>
          </p:cNvPr>
          <p:cNvSpPr>
            <a:spLocks xmlns:a="http://schemas.openxmlformats.org/drawingml/2006/main" noGrp="1"/>
          </p:cNvSpPr>
          <p:nvPr/>
        </p:nvSpPr>
        <p:spPr>
          <a:xfrm xmlns:a="http://schemas.openxmlformats.org/drawingml/2006/main">
            <a:off x="3276600" y="1752600"/>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Domain list, with permission handling for new hosts.</a:t>
            </a:r>
          </a:p>
        </p:txBody>
      </p:sp>
      <p:sp>
        <p:nvSpPr>
          <p:cNvPr id="6" name="">
            <a:extLst xmlns:a="http://schemas.openxmlformats.org/drawingml/2006/main">
              <a:ext uri="{FF2B5EF4-FFF2-40B4-BE49-F238E27FC236}">
                <a16:creationId xmlns:a16="http://schemas.microsoft.com/office/drawing/2014/main" id="{CABA5505-1CF0-40AB-808F-E46E502BF17D}"/>
              </a:ext>
            </a:extLst>
          </p:cNvPr>
          <p:cNvSpPr>
            <a:spLocks xmlns:a="http://schemas.openxmlformats.org/drawingml/2006/main" noGrp="1"/>
          </p:cNvSpPr>
          <p:nvPr/>
        </p:nvSpPr>
        <p:spPr>
          <a:xfrm xmlns:a="http://schemas.openxmlformats.org/drawingml/2006/main">
            <a:off x="609600" y="2781300"/>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Strict operation</a:t>
            </a:r>
          </a:p>
        </p:txBody>
      </p:sp>
      <p:sp>
        <p:nvSpPr>
          <p:cNvPr id="7" name="">
            <a:extLst xmlns:a="http://schemas.openxmlformats.org/drawingml/2006/main">
              <a:ext uri="{FF2B5EF4-FFF2-40B4-BE49-F238E27FC236}">
                <a16:creationId xmlns:a16="http://schemas.microsoft.com/office/drawing/2014/main" id="{3AA308BD-5B44-4BB9-AF14-C1759892F6B8}"/>
              </a:ext>
            </a:extLst>
          </p:cNvPr>
          <p:cNvSpPr>
            <a:spLocks xmlns:a="http://schemas.openxmlformats.org/drawingml/2006/main" noGrp="1"/>
          </p:cNvSpPr>
          <p:nvPr/>
        </p:nvSpPr>
        <p:spPr>
          <a:xfrm xmlns:a="http://schemas.openxmlformats.org/drawingml/2006/main">
            <a:off x="3276600" y="2781300"/>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Reject unlisted hosts instead of expanding access during a task.</a:t>
            </a:r>
          </a:p>
        </p:txBody>
      </p:sp>
      <p:sp>
        <p:nvSpPr>
          <p:cNvPr id="8" name="">
            <a:extLst xmlns:a="http://schemas.openxmlformats.org/drawingml/2006/main">
              <a:ext uri="{FF2B5EF4-FFF2-40B4-BE49-F238E27FC236}">
                <a16:creationId xmlns:a16="http://schemas.microsoft.com/office/drawing/2014/main" id="{040813F2-DF41-48A3-A065-4A50CB35D7F0}"/>
              </a:ext>
            </a:extLst>
          </p:cNvPr>
          <p:cNvSpPr>
            <a:spLocks xmlns:a="http://schemas.openxmlformats.org/drawingml/2006/main" noGrp="1"/>
          </p:cNvSpPr>
          <p:nvPr/>
        </p:nvSpPr>
        <p:spPr>
          <a:xfrm xmlns:a="http://schemas.openxmlformats.org/drawingml/2006/main">
            <a:off x="609600" y="3810000"/>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Remaining exposure</a:t>
            </a:r>
          </a:p>
        </p:txBody>
      </p:sp>
      <p:sp>
        <p:nvSpPr>
          <p:cNvPr id="9" name="">
            <a:extLst xmlns:a="http://schemas.openxmlformats.org/drawingml/2006/main">
              <a:ext uri="{FF2B5EF4-FFF2-40B4-BE49-F238E27FC236}">
                <a16:creationId xmlns:a16="http://schemas.microsoft.com/office/drawing/2014/main" id="{DE8DC62D-FACB-48B9-B28F-DA97AD50BCBE}"/>
              </a:ext>
            </a:extLst>
          </p:cNvPr>
          <p:cNvSpPr>
            <a:spLocks xmlns:a="http://schemas.openxmlformats.org/drawingml/2006/main" noGrp="1"/>
          </p:cNvSpPr>
          <p:nvPr/>
        </p:nvSpPr>
        <p:spPr>
          <a:xfrm xmlns:a="http://schemas.openxmlformats.org/drawingml/2006/main">
            <a:off x="3276600" y="3810000"/>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An allowed domain may still receive sensitive data.</a:t>
            </a:r>
          </a:p>
        </p:txBody>
      </p:sp>
      <p:sp>
        <p:nvSpPr>
          <p:cNvPr id="10" name="">
            <a:extLst xmlns:a="http://schemas.openxmlformats.org/drawingml/2006/main">
              <a:ext uri="{FF2B5EF4-FFF2-40B4-BE49-F238E27FC236}">
                <a16:creationId xmlns:a16="http://schemas.microsoft.com/office/drawing/2014/main" id="{08086306-4B1E-474B-B56E-9BCEFFDF8CC3}"/>
              </a:ext>
            </a:extLst>
          </p:cNvPr>
          <p:cNvSpPr>
            <a:spLocks xmlns:a="http://schemas.openxmlformats.org/drawingml/2006/main" noGrp="1"/>
          </p:cNvSpPr>
          <p:nvPr/>
        </p:nvSpPr>
        <p:spPr>
          <a:xfrm xmlns:a="http://schemas.openxmlformats.org/drawingml/2006/main">
            <a:off x="609600" y="4838700"/>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Separate concern</a:t>
            </a:r>
          </a:p>
        </p:txBody>
      </p:sp>
      <p:sp>
        <p:nvSpPr>
          <p:cNvPr id="11" name="">
            <a:extLst xmlns:a="http://schemas.openxmlformats.org/drawingml/2006/main">
              <a:ext uri="{FF2B5EF4-FFF2-40B4-BE49-F238E27FC236}">
                <a16:creationId xmlns:a16="http://schemas.microsoft.com/office/drawing/2014/main" id="{D027ACEE-96AD-4C90-87C5-B80113D76FFB}"/>
              </a:ext>
            </a:extLst>
          </p:cNvPr>
          <p:cNvSpPr>
            <a:spLocks xmlns:a="http://schemas.openxmlformats.org/drawingml/2006/main" noGrp="1"/>
          </p:cNvSpPr>
          <p:nvPr/>
        </p:nvSpPr>
        <p:spPr>
          <a:xfrm xmlns:a="http://schemas.openxmlformats.org/drawingml/2006/main">
            <a:off x="3276600" y="4838700"/>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Model-provider traffic and remote service authorization.</a:t>
            </a:r>
          </a:p>
        </p:txBody>
      </p:sp>
    </p:spTree>
    <p:extLst>
      <p:ext uri="{BB962C8B-B14F-4D97-AF65-F5344CB8AC3E}">
        <p14:creationId xmlns:p14="http://schemas.microsoft.com/office/powerpoint/2010/main" val="168290721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52AF076-3B45-4B67-8805-9D2185EBCD2F}"/>
              </a:ext>
            </a:extLst>
          </p:cNvPr>
          <p:cNvSpPr>
            <a:spLocks xmlns:a="http://schemas.openxmlformats.org/drawingml/2006/main" noGrp="1"/>
          </p:cNvSpPr>
          <p:nvPr/>
        </p:nvSpPr>
        <p:spPr>
          <a:xfrm xmlns:a="http://schemas.openxmlformats.org/drawingml/2006/main">
            <a:off x="609600" y="457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2B3A"/>
                </a:solidFill>
                <a:latin typeface="Helvetica Neue"/>
                <a:ea typeface="Helvetica Neue"/>
                <a:cs typeface="Helvetica Neue"/>
              </a:defRPr>
            </a:pPr>
            <a:r>
              <a:rPr sz="3300" b="1">
                <a:solidFill>
                  <a:srgbClr val="182B3A"/>
                </a:solidFill>
                <a:latin typeface="Helvetica Neue"/>
                <a:ea typeface="Helvetica Neue"/>
                <a:cs typeface="Helvetica Neue"/>
              </a:rPr>
              <a:t>Demo 2: one blocked destination</a:t>
            </a:r>
          </a:p>
        </p:txBody>
      </p:sp>
      <p:sp>
        <p:nvSpPr>
          <p:cNvPr id="2" name="">
            <a:extLst xmlns:a="http://schemas.openxmlformats.org/drawingml/2006/main">
              <a:ext uri="{FF2B5EF4-FFF2-40B4-BE49-F238E27FC236}">
                <a16:creationId xmlns:a16="http://schemas.microsoft.com/office/drawing/2014/main" id="{E3A2F727-D23B-4DB1-90E3-5191F9ED6055}"/>
              </a:ext>
            </a:extLst>
          </p:cNvPr>
          <p:cNvSpPr>
            <a:spLocks xmlns:a="http://schemas.openxmlformats.org/drawingml/2006/main" noGrp="1"/>
          </p:cNvSpPr>
          <p:nvPr/>
        </p:nvSpPr>
        <p:spPr>
          <a:xfrm xmlns:a="http://schemas.openxmlformats.org/drawingml/2006/main">
            <a:off x="609600" y="63817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75"/>
                </a:solidFill>
                <a:latin typeface="Helvetica Neue"/>
                <a:ea typeface="Helvetica Neue"/>
                <a:cs typeface="Helvetica Neue"/>
              </a:defRPr>
            </a:pPr>
            <a:r>
              <a:rPr sz="1200" b="0">
                <a:solidFill>
                  <a:srgbClr val="566675"/>
                </a:solidFill>
                <a:latin typeface="Helvetica Neue"/>
                <a:ea typeface="Helvetica Neue"/>
                <a:cs typeface="Helvetica Neue"/>
              </a:rPr>
              <a:t>Session 3  /  Sandboxing</a:t>
            </a:r>
          </a:p>
        </p:txBody>
      </p:sp>
      <p:sp>
        <p:nvSpPr>
          <p:cNvPr id="3" name="">
            <a:extLst xmlns:a="http://schemas.openxmlformats.org/drawingml/2006/main">
              <a:ext uri="{FF2B5EF4-FFF2-40B4-BE49-F238E27FC236}">
                <a16:creationId xmlns:a16="http://schemas.microsoft.com/office/drawing/2014/main" id="{AF14A859-1FC2-4172-8CA7-CBAD374FE7C9}"/>
              </a:ext>
            </a:extLst>
          </p:cNvPr>
          <p:cNvSpPr>
            <a:spLocks xmlns:a="http://schemas.openxmlformats.org/drawingml/2006/main" noGrp="1"/>
          </p:cNvSpPr>
          <p:nvPr/>
        </p:nvSpPr>
        <p:spPr>
          <a:xfrm xmlns:a="http://schemas.openxmlformats.org/drawingml/2006/main">
            <a:off x="110109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75"/>
                </a:solidFill>
                <a:latin typeface="Helvetica Neue"/>
                <a:ea typeface="Helvetica Neue"/>
                <a:cs typeface="Helvetica Neue"/>
              </a:defRPr>
            </a:pPr>
            <a:r>
              <a:rPr sz="1200" b="0">
                <a:solidFill>
                  <a:srgbClr val="566675"/>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2198C1FC-C459-47AB-A8DD-33CB4FDFB0F5}"/>
              </a:ext>
            </a:extLst>
          </p:cNvPr>
          <p:cNvSpPr>
            <a:spLocks xmlns:a="http://schemas.openxmlformats.org/drawingml/2006/main" noGrp="1"/>
          </p:cNvSpPr>
          <p:nvPr/>
        </p:nvSpPr>
        <p:spPr>
          <a:xfrm xmlns:a="http://schemas.openxmlformats.org/drawingml/2006/main">
            <a:off x="609600" y="1752600"/>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Setup</a:t>
            </a:r>
          </a:p>
        </p:txBody>
      </p:sp>
      <p:sp>
        <p:nvSpPr>
          <p:cNvPr id="5" name="">
            <a:extLst xmlns:a="http://schemas.openxmlformats.org/drawingml/2006/main">
              <a:ext uri="{FF2B5EF4-FFF2-40B4-BE49-F238E27FC236}">
                <a16:creationId xmlns:a16="http://schemas.microsoft.com/office/drawing/2014/main" id="{90E89260-B4BD-4985-B6C8-142659929FDD}"/>
              </a:ext>
            </a:extLst>
          </p:cNvPr>
          <p:cNvSpPr>
            <a:spLocks xmlns:a="http://schemas.openxmlformats.org/drawingml/2006/main" noGrp="1"/>
          </p:cNvSpPr>
          <p:nvPr/>
        </p:nvSpPr>
        <p:spPr>
          <a:xfrm xmlns:a="http://schemas.openxmlformats.org/drawingml/2006/main">
            <a:off x="3276600" y="1752600"/>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Allow example.com. Enable a strict destination list.</a:t>
            </a:r>
          </a:p>
        </p:txBody>
      </p:sp>
      <p:sp>
        <p:nvSpPr>
          <p:cNvPr id="6" name="">
            <a:extLst xmlns:a="http://schemas.openxmlformats.org/drawingml/2006/main">
              <a:ext uri="{FF2B5EF4-FFF2-40B4-BE49-F238E27FC236}">
                <a16:creationId xmlns:a16="http://schemas.microsoft.com/office/drawing/2014/main" id="{1FA879AC-497E-4E6F-A363-C2D98F5D9B51}"/>
              </a:ext>
            </a:extLst>
          </p:cNvPr>
          <p:cNvSpPr>
            <a:spLocks xmlns:a="http://schemas.openxmlformats.org/drawingml/2006/main" noGrp="1"/>
          </p:cNvSpPr>
          <p:nvPr/>
        </p:nvSpPr>
        <p:spPr>
          <a:xfrm xmlns:a="http://schemas.openxmlformats.org/drawingml/2006/main">
            <a:off x="609600" y="2781300"/>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Action</a:t>
            </a:r>
          </a:p>
        </p:txBody>
      </p:sp>
      <p:sp>
        <p:nvSpPr>
          <p:cNvPr id="7" name="">
            <a:extLst xmlns:a="http://schemas.openxmlformats.org/drawingml/2006/main">
              <a:ext uri="{FF2B5EF4-FFF2-40B4-BE49-F238E27FC236}">
                <a16:creationId xmlns:a16="http://schemas.microsoft.com/office/drawing/2014/main" id="{ACED83A7-945F-456E-9022-4FC33D11E6CA}"/>
              </a:ext>
            </a:extLst>
          </p:cNvPr>
          <p:cNvSpPr>
            <a:spLocks xmlns:a="http://schemas.openxmlformats.org/drawingml/2006/main" noGrp="1"/>
          </p:cNvSpPr>
          <p:nvPr/>
        </p:nvSpPr>
        <p:spPr>
          <a:xfrm xmlns:a="http://schemas.openxmlformats.org/drawingml/2006/main">
            <a:off x="3276600" y="2781300"/>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Issue two HEAD requests through Bash: example.com and example.org.</a:t>
            </a:r>
          </a:p>
        </p:txBody>
      </p:sp>
      <p:sp>
        <p:nvSpPr>
          <p:cNvPr id="8" name="">
            <a:extLst xmlns:a="http://schemas.openxmlformats.org/drawingml/2006/main">
              <a:ext uri="{FF2B5EF4-FFF2-40B4-BE49-F238E27FC236}">
                <a16:creationId xmlns:a16="http://schemas.microsoft.com/office/drawing/2014/main" id="{A0C5675E-3E3C-41B2-8EB6-59DA20006F24}"/>
              </a:ext>
            </a:extLst>
          </p:cNvPr>
          <p:cNvSpPr>
            <a:spLocks xmlns:a="http://schemas.openxmlformats.org/drawingml/2006/main" noGrp="1"/>
          </p:cNvSpPr>
          <p:nvPr/>
        </p:nvSpPr>
        <p:spPr>
          <a:xfrm xmlns:a="http://schemas.openxmlformats.org/drawingml/2006/main">
            <a:off x="609600" y="3810000"/>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Expected</a:t>
            </a:r>
          </a:p>
        </p:txBody>
      </p:sp>
      <p:sp>
        <p:nvSpPr>
          <p:cNvPr id="9" name="">
            <a:extLst xmlns:a="http://schemas.openxmlformats.org/drawingml/2006/main">
              <a:ext uri="{FF2B5EF4-FFF2-40B4-BE49-F238E27FC236}">
                <a16:creationId xmlns:a16="http://schemas.microsoft.com/office/drawing/2014/main" id="{32FE1108-A8A5-469F-9D56-B5281111BA05}"/>
              </a:ext>
            </a:extLst>
          </p:cNvPr>
          <p:cNvSpPr>
            <a:spLocks xmlns:a="http://schemas.openxmlformats.org/drawingml/2006/main" noGrp="1"/>
          </p:cNvSpPr>
          <p:nvPr/>
        </p:nvSpPr>
        <p:spPr>
          <a:xfrm xmlns:a="http://schemas.openxmlformats.org/drawingml/2006/main">
            <a:off x="3276600" y="3810000"/>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Allowed host responds. Unlisted host receives a policy denial.</a:t>
            </a:r>
          </a:p>
        </p:txBody>
      </p:sp>
      <p:sp>
        <p:nvSpPr>
          <p:cNvPr id="10" name="">
            <a:extLst xmlns:a="http://schemas.openxmlformats.org/drawingml/2006/main">
              <a:ext uri="{FF2B5EF4-FFF2-40B4-BE49-F238E27FC236}">
                <a16:creationId xmlns:a16="http://schemas.microsoft.com/office/drawing/2014/main" id="{CD7F2832-C91A-4914-9A83-F9090C94985E}"/>
              </a:ext>
            </a:extLst>
          </p:cNvPr>
          <p:cNvSpPr>
            <a:spLocks xmlns:a="http://schemas.openxmlformats.org/drawingml/2006/main" noGrp="1"/>
          </p:cNvSpPr>
          <p:nvPr/>
        </p:nvSpPr>
        <p:spPr>
          <a:xfrm xmlns:a="http://schemas.openxmlformats.org/drawingml/2006/main">
            <a:off x="609600" y="4838700"/>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One lesson</a:t>
            </a:r>
          </a:p>
        </p:txBody>
      </p:sp>
      <p:sp>
        <p:nvSpPr>
          <p:cNvPr id="11" name="">
            <a:extLst xmlns:a="http://schemas.openxmlformats.org/drawingml/2006/main">
              <a:ext uri="{FF2B5EF4-FFF2-40B4-BE49-F238E27FC236}">
                <a16:creationId xmlns:a16="http://schemas.microsoft.com/office/drawing/2014/main" id="{794D6D60-791F-4849-8C94-8787CD9BDCAC}"/>
              </a:ext>
            </a:extLst>
          </p:cNvPr>
          <p:cNvSpPr>
            <a:spLocks xmlns:a="http://schemas.openxmlformats.org/drawingml/2006/main" noGrp="1"/>
          </p:cNvSpPr>
          <p:nvPr/>
        </p:nvSpPr>
        <p:spPr>
          <a:xfrm xmlns:a="http://schemas.openxmlformats.org/drawingml/2006/main">
            <a:off x="3276600" y="4838700"/>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The network policy follows the destination, not the prompt wording.</a:t>
            </a:r>
          </a:p>
        </p:txBody>
      </p:sp>
    </p:spTree>
    <p:extLst>
      <p:ext uri="{BB962C8B-B14F-4D97-AF65-F5344CB8AC3E}">
        <p14:creationId xmlns:p14="http://schemas.microsoft.com/office/powerpoint/2010/main" val="178260606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99A47B9-9917-4B09-A674-25455878008E}"/>
              </a:ext>
            </a:extLst>
          </p:cNvPr>
          <p:cNvSpPr>
            <a:spLocks xmlns:a="http://schemas.openxmlformats.org/drawingml/2006/main" noGrp="1"/>
          </p:cNvSpPr>
          <p:nvPr/>
        </p:nvSpPr>
        <p:spPr>
          <a:xfrm xmlns:a="http://schemas.openxmlformats.org/drawingml/2006/main">
            <a:off x="609600" y="457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2B3A"/>
                </a:solidFill>
                <a:latin typeface="Helvetica Neue"/>
                <a:ea typeface="Helvetica Neue"/>
                <a:cs typeface="Helvetica Neue"/>
              </a:defRPr>
            </a:pPr>
            <a:r>
              <a:rPr sz="3300" b="1">
                <a:solidFill>
                  <a:srgbClr val="182B3A"/>
                </a:solidFill>
                <a:latin typeface="Helvetica Neue"/>
                <a:ea typeface="Helvetica Neue"/>
                <a:cs typeface="Helvetica Neue"/>
              </a:rPr>
              <a:t>Approvals and sandboxing</a:t>
            </a:r>
          </a:p>
        </p:txBody>
      </p:sp>
      <p:sp>
        <p:nvSpPr>
          <p:cNvPr id="2" name="">
            <a:extLst xmlns:a="http://schemas.openxmlformats.org/drawingml/2006/main">
              <a:ext uri="{FF2B5EF4-FFF2-40B4-BE49-F238E27FC236}">
                <a16:creationId xmlns:a16="http://schemas.microsoft.com/office/drawing/2014/main" id="{DA8DD763-6254-4BF0-886F-78F3C39D91B9}"/>
              </a:ext>
            </a:extLst>
          </p:cNvPr>
          <p:cNvSpPr>
            <a:spLocks xmlns:a="http://schemas.openxmlformats.org/drawingml/2006/main" noGrp="1"/>
          </p:cNvSpPr>
          <p:nvPr/>
        </p:nvSpPr>
        <p:spPr>
          <a:xfrm xmlns:a="http://schemas.openxmlformats.org/drawingml/2006/main">
            <a:off x="609600" y="63817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75"/>
                </a:solidFill>
                <a:latin typeface="Helvetica Neue"/>
                <a:ea typeface="Helvetica Neue"/>
                <a:cs typeface="Helvetica Neue"/>
              </a:defRPr>
            </a:pPr>
            <a:r>
              <a:rPr sz="1200" b="0">
                <a:solidFill>
                  <a:srgbClr val="566675"/>
                </a:solidFill>
                <a:latin typeface="Helvetica Neue"/>
                <a:ea typeface="Helvetica Neue"/>
                <a:cs typeface="Helvetica Neue"/>
              </a:rPr>
              <a:t>Session 3  /  Sandboxing</a:t>
            </a:r>
          </a:p>
        </p:txBody>
      </p:sp>
      <p:sp>
        <p:nvSpPr>
          <p:cNvPr id="3" name="">
            <a:extLst xmlns:a="http://schemas.openxmlformats.org/drawingml/2006/main">
              <a:ext uri="{FF2B5EF4-FFF2-40B4-BE49-F238E27FC236}">
                <a16:creationId xmlns:a16="http://schemas.microsoft.com/office/drawing/2014/main" id="{E32BD923-7CEA-4739-8A69-EAB7BFF04157}"/>
              </a:ext>
            </a:extLst>
          </p:cNvPr>
          <p:cNvSpPr>
            <a:spLocks xmlns:a="http://schemas.openxmlformats.org/drawingml/2006/main" noGrp="1"/>
          </p:cNvSpPr>
          <p:nvPr/>
        </p:nvSpPr>
        <p:spPr>
          <a:xfrm xmlns:a="http://schemas.openxmlformats.org/drawingml/2006/main">
            <a:off x="110109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75"/>
                </a:solidFill>
                <a:latin typeface="Helvetica Neue"/>
                <a:ea typeface="Helvetica Neue"/>
                <a:cs typeface="Helvetica Neue"/>
              </a:defRPr>
            </a:pPr>
            <a:r>
              <a:rPr sz="1200" b="0">
                <a:solidFill>
                  <a:srgbClr val="566675"/>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06D21F1A-C483-4ACE-9A31-0C993905A49B}"/>
              </a:ext>
            </a:extLst>
          </p:cNvPr>
          <p:cNvSpPr>
            <a:spLocks xmlns:a="http://schemas.openxmlformats.org/drawingml/2006/main" noGrp="1"/>
          </p:cNvSpPr>
          <p:nvPr/>
        </p:nvSpPr>
        <p:spPr>
          <a:xfrm xmlns:a="http://schemas.openxmlformats.org/drawingml/2006/main">
            <a:off x="609600" y="1752600"/>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Tool rules</a:t>
            </a:r>
          </a:p>
        </p:txBody>
      </p:sp>
      <p:sp>
        <p:nvSpPr>
          <p:cNvPr id="5" name="">
            <a:extLst xmlns:a="http://schemas.openxmlformats.org/drawingml/2006/main">
              <a:ext uri="{FF2B5EF4-FFF2-40B4-BE49-F238E27FC236}">
                <a16:creationId xmlns:a16="http://schemas.microsoft.com/office/drawing/2014/main" id="{95F4B57D-BB3B-40C4-843E-D39CAADBBB51}"/>
              </a:ext>
            </a:extLst>
          </p:cNvPr>
          <p:cNvSpPr>
            <a:spLocks xmlns:a="http://schemas.openxmlformats.org/drawingml/2006/main" noGrp="1"/>
          </p:cNvSpPr>
          <p:nvPr/>
        </p:nvSpPr>
        <p:spPr>
          <a:xfrm xmlns:a="http://schemas.openxmlformats.org/drawingml/2006/main">
            <a:off x="3276600" y="1752600"/>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Allow, ask or deny specific actions.</a:t>
            </a:r>
          </a:p>
        </p:txBody>
      </p:sp>
      <p:sp>
        <p:nvSpPr>
          <p:cNvPr id="6" name="">
            <a:extLst xmlns:a="http://schemas.openxmlformats.org/drawingml/2006/main">
              <a:ext uri="{FF2B5EF4-FFF2-40B4-BE49-F238E27FC236}">
                <a16:creationId xmlns:a16="http://schemas.microsoft.com/office/drawing/2014/main" id="{7981443A-E595-4C79-8623-503C239FA567}"/>
              </a:ext>
            </a:extLst>
          </p:cNvPr>
          <p:cNvSpPr>
            <a:spLocks xmlns:a="http://schemas.openxmlformats.org/drawingml/2006/main" noGrp="1"/>
          </p:cNvSpPr>
          <p:nvPr/>
        </p:nvSpPr>
        <p:spPr>
          <a:xfrm xmlns:a="http://schemas.openxmlformats.org/drawingml/2006/main">
            <a:off x="609600" y="2781300"/>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Sandbox approval</a:t>
            </a:r>
          </a:p>
        </p:txBody>
      </p:sp>
      <p:sp>
        <p:nvSpPr>
          <p:cNvPr id="7" name="">
            <a:extLst xmlns:a="http://schemas.openxmlformats.org/drawingml/2006/main">
              <a:ext uri="{FF2B5EF4-FFF2-40B4-BE49-F238E27FC236}">
                <a16:creationId xmlns:a16="http://schemas.microsoft.com/office/drawing/2014/main" id="{D3C225C3-D0A1-4002-96FE-254DA9C4A476}"/>
              </a:ext>
            </a:extLst>
          </p:cNvPr>
          <p:cNvSpPr>
            <a:spLocks xmlns:a="http://schemas.openxmlformats.org/drawingml/2006/main" noGrp="1"/>
          </p:cNvSpPr>
          <p:nvPr/>
        </p:nvSpPr>
        <p:spPr>
          <a:xfrm xmlns:a="http://schemas.openxmlformats.org/drawingml/2006/main">
            <a:off x="3276600" y="2781300"/>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Auto-allow or regular prompts within the same OS boundary.</a:t>
            </a:r>
          </a:p>
        </p:txBody>
      </p:sp>
      <p:sp>
        <p:nvSpPr>
          <p:cNvPr id="8" name="">
            <a:extLst xmlns:a="http://schemas.openxmlformats.org/drawingml/2006/main">
              <a:ext uri="{FF2B5EF4-FFF2-40B4-BE49-F238E27FC236}">
                <a16:creationId xmlns:a16="http://schemas.microsoft.com/office/drawing/2014/main" id="{9E5D8290-78B8-4C38-B688-BB2A8BC7890D}"/>
              </a:ext>
            </a:extLst>
          </p:cNvPr>
          <p:cNvSpPr>
            <a:spLocks xmlns:a="http://schemas.openxmlformats.org/drawingml/2006/main" noGrp="1"/>
          </p:cNvSpPr>
          <p:nvPr/>
        </p:nvSpPr>
        <p:spPr>
          <a:xfrm xmlns:a="http://schemas.openxmlformats.org/drawingml/2006/main">
            <a:off x="609600" y="3810000"/>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Permission modes</a:t>
            </a:r>
          </a:p>
        </p:txBody>
      </p:sp>
      <p:sp>
        <p:nvSpPr>
          <p:cNvPr id="9" name="">
            <a:extLst xmlns:a="http://schemas.openxmlformats.org/drawingml/2006/main">
              <a:ext uri="{FF2B5EF4-FFF2-40B4-BE49-F238E27FC236}">
                <a16:creationId xmlns:a16="http://schemas.microsoft.com/office/drawing/2014/main" id="{9A66FFCE-9578-4D24-A919-D803E15B0775}"/>
              </a:ext>
            </a:extLst>
          </p:cNvPr>
          <p:cNvSpPr>
            <a:spLocks xmlns:a="http://schemas.openxmlformats.org/drawingml/2006/main" noGrp="1"/>
          </p:cNvSpPr>
          <p:nvPr/>
        </p:nvSpPr>
        <p:spPr>
          <a:xfrm xmlns:a="http://schemas.openxmlformats.org/drawingml/2006/main">
            <a:off x="3276600" y="3810000"/>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Manual, plan, accept edits, auto and other workflow choices.</a:t>
            </a:r>
          </a:p>
        </p:txBody>
      </p:sp>
      <p:sp>
        <p:nvSpPr>
          <p:cNvPr id="10" name="">
            <a:extLst xmlns:a="http://schemas.openxmlformats.org/drawingml/2006/main">
              <a:ext uri="{FF2B5EF4-FFF2-40B4-BE49-F238E27FC236}">
                <a16:creationId xmlns:a16="http://schemas.microsoft.com/office/drawing/2014/main" id="{280CE2C8-FC34-43F1-A5B5-D65EBE10BB11}"/>
              </a:ext>
            </a:extLst>
          </p:cNvPr>
          <p:cNvSpPr>
            <a:spLocks xmlns:a="http://schemas.openxmlformats.org/drawingml/2006/main" noGrp="1"/>
          </p:cNvSpPr>
          <p:nvPr/>
        </p:nvSpPr>
        <p:spPr>
          <a:xfrm xmlns:a="http://schemas.openxmlformats.org/drawingml/2006/main">
            <a:off x="609600" y="4838700"/>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Unattended runs</a:t>
            </a:r>
          </a:p>
        </p:txBody>
      </p:sp>
      <p:sp>
        <p:nvSpPr>
          <p:cNvPr id="11" name="">
            <a:extLst xmlns:a="http://schemas.openxmlformats.org/drawingml/2006/main">
              <a:ext uri="{FF2B5EF4-FFF2-40B4-BE49-F238E27FC236}">
                <a16:creationId xmlns:a16="http://schemas.microsoft.com/office/drawing/2014/main" id="{5F0B87ED-FF12-4169-BD53-7A75D6850CB8}"/>
              </a:ext>
            </a:extLst>
          </p:cNvPr>
          <p:cNvSpPr>
            <a:spLocks xmlns:a="http://schemas.openxmlformats.org/drawingml/2006/main" noGrp="1"/>
          </p:cNvSpPr>
          <p:nvPr/>
        </p:nvSpPr>
        <p:spPr>
          <a:xfrm xmlns:a="http://schemas.openxmlformats.org/drawingml/2006/main">
            <a:off x="3276600" y="4838700"/>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Require an explicit isolation design before reducing approvals.</a:t>
            </a:r>
          </a:p>
        </p:txBody>
      </p:sp>
    </p:spTree>
    <p:extLst>
      <p:ext uri="{BB962C8B-B14F-4D97-AF65-F5344CB8AC3E}">
        <p14:creationId xmlns:p14="http://schemas.microsoft.com/office/powerpoint/2010/main" val="120391797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A0FD15E-8157-421A-8ABA-5690CDF6B5E2}"/>
              </a:ext>
            </a:extLst>
          </p:cNvPr>
          <p:cNvSpPr>
            <a:spLocks xmlns:a="http://schemas.openxmlformats.org/drawingml/2006/main" noGrp="1"/>
          </p:cNvSpPr>
          <p:nvPr/>
        </p:nvSpPr>
        <p:spPr>
          <a:xfrm xmlns:a="http://schemas.openxmlformats.org/drawingml/2006/main">
            <a:off x="609600" y="457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2B3A"/>
                </a:solidFill>
                <a:latin typeface="Helvetica Neue"/>
                <a:ea typeface="Helvetica Neue"/>
                <a:cs typeface="Helvetica Neue"/>
              </a:defRPr>
            </a:pPr>
            <a:r>
              <a:rPr sz="3300" b="1">
                <a:solidFill>
                  <a:srgbClr val="182B3A"/>
                </a:solidFill>
                <a:latin typeface="Helvetica Neue"/>
                <a:ea typeface="Helvetica Neue"/>
                <a:cs typeface="Helvetica Neue"/>
              </a:rPr>
              <a:t>Team policy and escape routes</a:t>
            </a:r>
          </a:p>
        </p:txBody>
      </p:sp>
      <p:sp>
        <p:nvSpPr>
          <p:cNvPr id="2" name="">
            <a:extLst xmlns:a="http://schemas.openxmlformats.org/drawingml/2006/main">
              <a:ext uri="{FF2B5EF4-FFF2-40B4-BE49-F238E27FC236}">
                <a16:creationId xmlns:a16="http://schemas.microsoft.com/office/drawing/2014/main" id="{55F0A5C1-A2E8-4246-B8B9-1A8212DDE65C}"/>
              </a:ext>
            </a:extLst>
          </p:cNvPr>
          <p:cNvSpPr>
            <a:spLocks xmlns:a="http://schemas.openxmlformats.org/drawingml/2006/main" noGrp="1"/>
          </p:cNvSpPr>
          <p:nvPr/>
        </p:nvSpPr>
        <p:spPr>
          <a:xfrm xmlns:a="http://schemas.openxmlformats.org/drawingml/2006/main">
            <a:off x="609600" y="63817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75"/>
                </a:solidFill>
                <a:latin typeface="Helvetica Neue"/>
                <a:ea typeface="Helvetica Neue"/>
                <a:cs typeface="Helvetica Neue"/>
              </a:defRPr>
            </a:pPr>
            <a:r>
              <a:rPr sz="1200" b="0">
                <a:solidFill>
                  <a:srgbClr val="566675"/>
                </a:solidFill>
                <a:latin typeface="Helvetica Neue"/>
                <a:ea typeface="Helvetica Neue"/>
                <a:cs typeface="Helvetica Neue"/>
              </a:rPr>
              <a:t>Session 3  /  Sandboxing</a:t>
            </a:r>
          </a:p>
        </p:txBody>
      </p:sp>
      <p:sp>
        <p:nvSpPr>
          <p:cNvPr id="3" name="">
            <a:extLst xmlns:a="http://schemas.openxmlformats.org/drawingml/2006/main">
              <a:ext uri="{FF2B5EF4-FFF2-40B4-BE49-F238E27FC236}">
                <a16:creationId xmlns:a16="http://schemas.microsoft.com/office/drawing/2014/main" id="{1E0B42F5-1A32-4892-BF01-6CEF6A77E536}"/>
              </a:ext>
            </a:extLst>
          </p:cNvPr>
          <p:cNvSpPr>
            <a:spLocks xmlns:a="http://schemas.openxmlformats.org/drawingml/2006/main" noGrp="1"/>
          </p:cNvSpPr>
          <p:nvPr/>
        </p:nvSpPr>
        <p:spPr>
          <a:xfrm xmlns:a="http://schemas.openxmlformats.org/drawingml/2006/main">
            <a:off x="110109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75"/>
                </a:solidFill>
                <a:latin typeface="Helvetica Neue"/>
                <a:ea typeface="Helvetica Neue"/>
                <a:cs typeface="Helvetica Neue"/>
              </a:defRPr>
            </a:pPr>
            <a:r>
              <a:rPr sz="1200" b="0">
                <a:solidFill>
                  <a:srgbClr val="566675"/>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55F6D663-C938-463E-AF84-B6B66C70932F}"/>
              </a:ext>
            </a:extLst>
          </p:cNvPr>
          <p:cNvSpPr>
            <a:spLocks xmlns:a="http://schemas.openxmlformats.org/drawingml/2006/main" noGrp="1"/>
          </p:cNvSpPr>
          <p:nvPr/>
        </p:nvSpPr>
        <p:spPr>
          <a:xfrm xmlns:a="http://schemas.openxmlformats.org/drawingml/2006/main">
            <a:off x="609600" y="1714500"/>
            <a:ext cx="59055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B3A"/>
                </a:solidFill>
                <a:latin typeface="Helvetica Neue"/>
                <a:ea typeface="Helvetica Neue"/>
                <a:cs typeface="Helvetica Neue"/>
              </a:defRPr>
            </a:pPr>
            <a:r>
              <a:rPr sz="2175" b="0">
                <a:solidFill>
                  <a:srgbClr val="182B3A"/>
                </a:solidFill>
                <a:latin typeface="Helvetica Neue"/>
                <a:ea typeface="Helvetica Neue"/>
                <a:cs typeface="Helvetica Neue"/>
              </a:rPr>
              <a:t>{</a:t>
            </a:r>
          </a:p>
          <a:p xmlns:a="http://schemas.openxmlformats.org/drawingml/2006/main">
            <a:pPr>
              <a:defRPr sz="2175" b="0">
                <a:solidFill>
                  <a:srgbClr val="182B3A"/>
                </a:solidFill>
                <a:latin typeface="Helvetica Neue"/>
                <a:ea typeface="Helvetica Neue"/>
                <a:cs typeface="Helvetica Neue"/>
              </a:defRPr>
            </a:pPr>
            <a:r>
              <a:rPr sz="2175" b="0">
                <a:solidFill>
                  <a:srgbClr val="182B3A"/>
                </a:solidFill>
                <a:latin typeface="Helvetica Neue"/>
                <a:ea typeface="Helvetica Neue"/>
                <a:cs typeface="Helvetica Neue"/>
              </a:rPr>
              <a:t>  "sandbox": {</a:t>
            </a:r>
          </a:p>
          <a:p xmlns:a="http://schemas.openxmlformats.org/drawingml/2006/main">
            <a:pPr>
              <a:defRPr sz="2175" b="0">
                <a:solidFill>
                  <a:srgbClr val="182B3A"/>
                </a:solidFill>
                <a:latin typeface="Helvetica Neue"/>
                <a:ea typeface="Helvetica Neue"/>
                <a:cs typeface="Helvetica Neue"/>
              </a:defRPr>
            </a:pPr>
            <a:r>
              <a:rPr sz="2175" b="0">
                <a:solidFill>
                  <a:srgbClr val="182B3A"/>
                </a:solidFill>
                <a:latin typeface="Helvetica Neue"/>
                <a:ea typeface="Helvetica Neue"/>
                <a:cs typeface="Helvetica Neue"/>
              </a:rPr>
              <a:t>    "enabled": true,</a:t>
            </a:r>
          </a:p>
          <a:p xmlns:a="http://schemas.openxmlformats.org/drawingml/2006/main">
            <a:pPr>
              <a:defRPr sz="2175" b="0">
                <a:solidFill>
                  <a:srgbClr val="182B3A"/>
                </a:solidFill>
                <a:latin typeface="Helvetica Neue"/>
                <a:ea typeface="Helvetica Neue"/>
                <a:cs typeface="Helvetica Neue"/>
              </a:defRPr>
            </a:pPr>
            <a:r>
              <a:rPr sz="2175" b="0">
                <a:solidFill>
                  <a:srgbClr val="182B3A"/>
                </a:solidFill>
                <a:latin typeface="Helvetica Neue"/>
                <a:ea typeface="Helvetica Neue"/>
                <a:cs typeface="Helvetica Neue"/>
              </a:rPr>
              <a:t>    "failIfUnavailable": true,</a:t>
            </a:r>
          </a:p>
          <a:p xmlns:a="http://schemas.openxmlformats.org/drawingml/2006/main">
            <a:pPr>
              <a:defRPr sz="2175" b="0">
                <a:solidFill>
                  <a:srgbClr val="182B3A"/>
                </a:solidFill>
                <a:latin typeface="Helvetica Neue"/>
                <a:ea typeface="Helvetica Neue"/>
                <a:cs typeface="Helvetica Neue"/>
              </a:defRPr>
            </a:pPr>
            <a:r>
              <a:rPr sz="2175" b="0">
                <a:solidFill>
                  <a:srgbClr val="182B3A"/>
                </a:solidFill>
                <a:latin typeface="Helvetica Neue"/>
                <a:ea typeface="Helvetica Neue"/>
                <a:cs typeface="Helvetica Neue"/>
              </a:rPr>
              <a:t>    "allowUnsandboxedCommands": false</a:t>
            </a:r>
          </a:p>
          <a:p xmlns:a="http://schemas.openxmlformats.org/drawingml/2006/main">
            <a:pPr>
              <a:defRPr sz="2175" b="0">
                <a:solidFill>
                  <a:srgbClr val="182B3A"/>
                </a:solidFill>
                <a:latin typeface="Helvetica Neue"/>
                <a:ea typeface="Helvetica Neue"/>
                <a:cs typeface="Helvetica Neue"/>
              </a:defRPr>
            </a:pPr>
            <a:r>
              <a:rPr sz="2175" b="0">
                <a:solidFill>
                  <a:srgbClr val="182B3A"/>
                </a:solidFill>
                <a:latin typeface="Helvetica Neue"/>
                <a:ea typeface="Helvetica Neue"/>
                <a:cs typeface="Helvetica Neue"/>
              </a:rPr>
              <a:t>  }</a:t>
            </a:r>
          </a:p>
          <a:p xmlns:a="http://schemas.openxmlformats.org/drawingml/2006/main">
            <a:pPr>
              <a:defRPr sz="2175" b="0">
                <a:solidFill>
                  <a:srgbClr val="182B3A"/>
                </a:solidFill>
                <a:latin typeface="Helvetica Neue"/>
                <a:ea typeface="Helvetica Neue"/>
                <a:cs typeface="Helvetica Neue"/>
              </a:defRPr>
            </a:pPr>
            <a:r>
              <a:rPr sz="2175" b="0">
                <a:solidFill>
                  <a:srgbClr val="182B3A"/>
                </a:solidFill>
                <a:latin typeface="Helvetica Neue"/>
                <a:ea typeface="Helvetica Neue"/>
                <a:cs typeface="Helvetica Neue"/>
              </a:rPr>
              <a:t>}</a:t>
            </a:r>
          </a:p>
        </p:txBody>
      </p:sp>
      <p:sp>
        <p:nvSpPr>
          <p:cNvPr id="5" name="">
            <a:extLst xmlns:a="http://schemas.openxmlformats.org/drawingml/2006/main">
              <a:ext uri="{FF2B5EF4-FFF2-40B4-BE49-F238E27FC236}">
                <a16:creationId xmlns:a16="http://schemas.microsoft.com/office/drawing/2014/main" id="{5CBB3B27-1067-4FAF-8FE6-379B15A9D9A8}"/>
              </a:ext>
            </a:extLst>
          </p:cNvPr>
          <p:cNvSpPr>
            <a:spLocks xmlns:a="http://schemas.openxmlformats.org/drawingml/2006/main" noGrp="1"/>
          </p:cNvSpPr>
          <p:nvPr/>
        </p:nvSpPr>
        <p:spPr>
          <a:xfrm xmlns:a="http://schemas.openxmlformats.org/drawingml/2006/main">
            <a:off x="7086600" y="1809750"/>
            <a:ext cx="4476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6D77"/>
                </a:solidFill>
                <a:latin typeface="Helvetica Neue"/>
                <a:ea typeface="Helvetica Neue"/>
                <a:cs typeface="Helvetica Neue"/>
              </a:defRPr>
            </a:pPr>
            <a:r>
              <a:rPr sz="2175" b="1">
                <a:solidFill>
                  <a:srgbClr val="126D77"/>
                </a:solidFill>
                <a:latin typeface="Helvetica Neue"/>
                <a:ea typeface="Helvetica Neue"/>
                <a:cs typeface="Helvetica Neue"/>
              </a:rPr>
              <a:t>Managed settings establish the baseline.</a:t>
            </a:r>
          </a:p>
          <a:p xmlns:a="http://schemas.openxmlformats.org/drawingml/2006/main">
            <a:r>
              <a:t/>
            </a:r>
          </a:p>
          <a:p xmlns:a="http://schemas.openxmlformats.org/drawingml/2006/main">
            <a:pPr>
              <a:defRPr sz="2175" b="1">
                <a:solidFill>
                  <a:srgbClr val="126D77"/>
                </a:solidFill>
                <a:latin typeface="Helvetica Neue"/>
                <a:ea typeface="Helvetica Neue"/>
                <a:cs typeface="Helvetica Neue"/>
              </a:defRPr>
            </a:pPr>
            <a:r>
              <a:rPr sz="2175" b="1">
                <a:solidFill>
                  <a:srgbClr val="126D77"/>
                </a:solidFill>
                <a:latin typeface="Helvetica Neue"/>
                <a:ea typeface="Helvetica Neue"/>
                <a:cs typeface="Helvetica Neue"/>
              </a:rPr>
              <a:t>Shared project settings support onboarding.</a:t>
            </a:r>
          </a:p>
        </p:txBody>
      </p:sp>
      <p:sp>
        <p:nvSpPr>
          <p:cNvPr id="6" name="">
            <a:extLst xmlns:a="http://schemas.openxmlformats.org/drawingml/2006/main">
              <a:ext uri="{FF2B5EF4-FFF2-40B4-BE49-F238E27FC236}">
                <a16:creationId xmlns:a16="http://schemas.microsoft.com/office/drawing/2014/main" id="{88688530-C353-40D0-8A56-DFDAB267BD96}"/>
              </a:ext>
            </a:extLst>
          </p:cNvPr>
          <p:cNvSpPr>
            <a:spLocks xmlns:a="http://schemas.openxmlformats.org/drawingml/2006/main" noGrp="1"/>
          </p:cNvSpPr>
          <p:nvPr/>
        </p:nvSpPr>
        <p:spPr>
          <a:xfrm xmlns:a="http://schemas.openxmlformats.org/drawingml/2006/main">
            <a:off x="609600" y="525780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2B3A"/>
                </a:solidFill>
                <a:latin typeface="Helvetica Neue"/>
                <a:ea typeface="Helvetica Neue"/>
                <a:cs typeface="Helvetica Neue"/>
              </a:defRPr>
            </a:pPr>
            <a:r>
              <a:rPr sz="2250" b="1">
                <a:solidFill>
                  <a:srgbClr val="182B3A"/>
                </a:solidFill>
                <a:latin typeface="Helvetica Neue"/>
                <a:ea typeface="Helvetica Neue"/>
                <a:cs typeface="Helvetica Neue"/>
              </a:rPr>
              <a:t>Review excludedCommands, merged lists and host escape routes.</a:t>
            </a:r>
          </a:p>
        </p:txBody>
      </p:sp>
    </p:spTree>
    <p:extLst>
      <p:ext uri="{BB962C8B-B14F-4D97-AF65-F5344CB8AC3E}">
        <p14:creationId xmlns:p14="http://schemas.microsoft.com/office/powerpoint/2010/main" val="7747617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84D7C94-6505-4E4B-AB22-41C1D9209E52}"/>
              </a:ext>
            </a:extLst>
          </p:cNvPr>
          <p:cNvSpPr>
            <a:spLocks xmlns:a="http://schemas.openxmlformats.org/drawingml/2006/main" noGrp="1"/>
          </p:cNvSpPr>
          <p:nvPr/>
        </p:nvSpPr>
        <p:spPr>
          <a:xfrm xmlns:a="http://schemas.openxmlformats.org/drawingml/2006/main">
            <a:off x="609600" y="457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2B3A"/>
                </a:solidFill>
                <a:latin typeface="Helvetica Neue"/>
                <a:ea typeface="Helvetica Neue"/>
                <a:cs typeface="Helvetica Neue"/>
              </a:defRPr>
            </a:pPr>
            <a:r>
              <a:rPr sz="3300" b="1">
                <a:solidFill>
                  <a:srgbClr val="182B3A"/>
                </a:solidFill>
                <a:latin typeface="Helvetica Neue"/>
                <a:ea typeface="Helvetica Neue"/>
                <a:cs typeface="Helvetica Neue"/>
              </a:rPr>
              <a:t>Ask Claude to configure Claude</a:t>
            </a:r>
          </a:p>
        </p:txBody>
      </p:sp>
      <p:sp>
        <p:nvSpPr>
          <p:cNvPr id="2" name="">
            <a:extLst xmlns:a="http://schemas.openxmlformats.org/drawingml/2006/main">
              <a:ext uri="{FF2B5EF4-FFF2-40B4-BE49-F238E27FC236}">
                <a16:creationId xmlns:a16="http://schemas.microsoft.com/office/drawing/2014/main" id="{8E3469AD-BA0C-4358-B85F-B10CF3C1D796}"/>
              </a:ext>
            </a:extLst>
          </p:cNvPr>
          <p:cNvSpPr>
            <a:spLocks xmlns:a="http://schemas.openxmlformats.org/drawingml/2006/main" noGrp="1"/>
          </p:cNvSpPr>
          <p:nvPr/>
        </p:nvSpPr>
        <p:spPr>
          <a:xfrm xmlns:a="http://schemas.openxmlformats.org/drawingml/2006/main">
            <a:off x="609600" y="63817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75"/>
                </a:solidFill>
                <a:latin typeface="Helvetica Neue"/>
                <a:ea typeface="Helvetica Neue"/>
                <a:cs typeface="Helvetica Neue"/>
              </a:defRPr>
            </a:pPr>
            <a:r>
              <a:rPr sz="1200" b="0">
                <a:solidFill>
                  <a:srgbClr val="566675"/>
                </a:solidFill>
                <a:latin typeface="Helvetica Neue"/>
                <a:ea typeface="Helvetica Neue"/>
                <a:cs typeface="Helvetica Neue"/>
              </a:rPr>
              <a:t>Session 3  /  Sandboxing</a:t>
            </a:r>
          </a:p>
        </p:txBody>
      </p:sp>
      <p:sp>
        <p:nvSpPr>
          <p:cNvPr id="3" name="">
            <a:extLst xmlns:a="http://schemas.openxmlformats.org/drawingml/2006/main">
              <a:ext uri="{FF2B5EF4-FFF2-40B4-BE49-F238E27FC236}">
                <a16:creationId xmlns:a16="http://schemas.microsoft.com/office/drawing/2014/main" id="{65813E77-C120-472D-9253-6CD760DA491E}"/>
              </a:ext>
            </a:extLst>
          </p:cNvPr>
          <p:cNvSpPr>
            <a:spLocks xmlns:a="http://schemas.openxmlformats.org/drawingml/2006/main" noGrp="1"/>
          </p:cNvSpPr>
          <p:nvPr/>
        </p:nvSpPr>
        <p:spPr>
          <a:xfrm xmlns:a="http://schemas.openxmlformats.org/drawingml/2006/main">
            <a:off x="110109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75"/>
                </a:solidFill>
                <a:latin typeface="Helvetica Neue"/>
                <a:ea typeface="Helvetica Neue"/>
                <a:cs typeface="Helvetica Neue"/>
              </a:defRPr>
            </a:pPr>
            <a:r>
              <a:rPr sz="1200" b="0">
                <a:solidFill>
                  <a:srgbClr val="566675"/>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E5C884DD-628B-409D-9AC7-EA558AF34BFD}"/>
              </a:ext>
            </a:extLst>
          </p:cNvPr>
          <p:cNvSpPr>
            <a:spLocks xmlns:a="http://schemas.openxmlformats.org/drawingml/2006/main" noGrp="1"/>
          </p:cNvSpPr>
          <p:nvPr/>
        </p:nvSpPr>
        <p:spPr>
          <a:xfrm xmlns:a="http://schemas.openxmlformats.org/drawingml/2006/main">
            <a:off x="609600" y="1762125"/>
            <a:ext cx="10715625"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82B3A"/>
                </a:solidFill>
                <a:latin typeface="Helvetica Neue"/>
                <a:ea typeface="Helvetica Neue"/>
                <a:cs typeface="Helvetica Neue"/>
              </a:defRPr>
            </a:pPr>
            <a:r>
              <a:rPr sz="2325" b="0">
                <a:solidFill>
                  <a:srgbClr val="182B3A"/>
                </a:solidFill>
                <a:latin typeface="Helvetica Neue"/>
                <a:ea typeface="Helvetica Neue"/>
                <a:cs typeface="Helvetica Neue"/>
              </a:rPr>
              <a:t>“Inspect my OS, Claude Code version and effective settings.</a:t>
            </a:r>
          </a:p>
          <a:p xmlns:a="http://schemas.openxmlformats.org/drawingml/2006/main">
            <a:r>
              <a:t/>
            </a:r>
          </a:p>
          <a:p xmlns:a="http://schemas.openxmlformats.org/drawingml/2006/main">
            <a:pPr>
              <a:defRPr sz="2325" b="0">
                <a:solidFill>
                  <a:srgbClr val="182B3A"/>
                </a:solidFill>
                <a:latin typeface="Helvetica Neue"/>
                <a:ea typeface="Helvetica Neue"/>
                <a:cs typeface="Helvetica Neue"/>
              </a:defRPr>
            </a:pPr>
            <a:r>
              <a:rPr sz="2325" b="0">
                <a:solidFill>
                  <a:srgbClr val="182B3A"/>
                </a:solidFill>
                <a:latin typeface="Helvetica Neue"/>
                <a:ea typeface="Helvetica Neue"/>
                <a:cs typeface="Helvetica Neue"/>
              </a:rPr>
              <a:t>Propose minimal sandbox and permission settings for this repo, its build tools and approved services.</a:t>
            </a:r>
          </a:p>
          <a:p xmlns:a="http://schemas.openxmlformats.org/drawingml/2006/main">
            <a:r>
              <a:t/>
            </a:r>
          </a:p>
          <a:p xmlns:a="http://schemas.openxmlformats.org/drawingml/2006/main">
            <a:pPr>
              <a:defRPr sz="2325" b="0">
                <a:solidFill>
                  <a:srgbClr val="182B3A"/>
                </a:solidFill>
                <a:latin typeface="Helvetica Neue"/>
                <a:ea typeface="Helvetica Neue"/>
                <a:cs typeface="Helvetica Neue"/>
              </a:defRPr>
            </a:pPr>
            <a:r>
              <a:rPr sz="2325" b="0">
                <a:solidFill>
                  <a:srgbClr val="182B3A"/>
                </a:solidFill>
                <a:latin typeface="Helvetica Neue"/>
                <a:ea typeface="Helvetica Neue"/>
                <a:cs typeface="Helvetica Neue"/>
              </a:rPr>
              <a:t>Explain each exception and what remains outside the boundary. Show a diff, current documentation links, and one positive and one negative test per boundary.”</a:t>
            </a:r>
          </a:p>
        </p:txBody>
      </p:sp>
      <p:sp>
        <p:nvSpPr>
          <p:cNvPr id="5" name="">
            <a:extLst xmlns:a="http://schemas.openxmlformats.org/drawingml/2006/main">
              <a:ext uri="{FF2B5EF4-FFF2-40B4-BE49-F238E27FC236}">
                <a16:creationId xmlns:a16="http://schemas.microsoft.com/office/drawing/2014/main" id="{878727FE-A5F3-48FC-9D2B-94E86AA041E5}"/>
              </a:ext>
            </a:extLst>
          </p:cNvPr>
          <p:cNvSpPr>
            <a:spLocks xmlns:a="http://schemas.openxmlformats.org/drawingml/2006/main" noGrp="1"/>
          </p:cNvSpPr>
          <p:nvPr/>
        </p:nvSpPr>
        <p:spPr>
          <a:xfrm xmlns:a="http://schemas.openxmlformats.org/drawingml/2006/main">
            <a:off x="609600" y="567690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26D77"/>
                </a:solidFill>
                <a:latin typeface="Helvetica Neue"/>
                <a:ea typeface="Helvetica Neue"/>
                <a:cs typeface="Helvetica Neue"/>
              </a:defRPr>
            </a:pPr>
            <a:r>
              <a:rPr sz="2025" b="1">
                <a:solidFill>
                  <a:srgbClr val="126D77"/>
                </a:solidFill>
                <a:latin typeface="Helvetica Neue"/>
                <a:ea typeface="Helvetica Neue"/>
                <a:cs typeface="Helvetica Neue"/>
              </a:rPr>
              <a:t>Provide requirements. Review the diff. Test the result.</a:t>
            </a:r>
          </a:p>
        </p:txBody>
      </p:sp>
    </p:spTree>
    <p:extLst>
      <p:ext uri="{BB962C8B-B14F-4D97-AF65-F5344CB8AC3E}">
        <p14:creationId xmlns:p14="http://schemas.microsoft.com/office/powerpoint/2010/main" val="138619113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296A375-63C0-4018-9B3E-994202583C31}"/>
              </a:ext>
            </a:extLst>
          </p:cNvPr>
          <p:cNvSpPr>
            <a:spLocks xmlns:a="http://schemas.openxmlformats.org/drawingml/2006/main" noGrp="1"/>
          </p:cNvSpPr>
          <p:nvPr/>
        </p:nvSpPr>
        <p:spPr>
          <a:xfrm xmlns:a="http://schemas.openxmlformats.org/drawingml/2006/main">
            <a:off x="609600" y="457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2B3A"/>
                </a:solidFill>
                <a:latin typeface="Helvetica Neue"/>
                <a:ea typeface="Helvetica Neue"/>
                <a:cs typeface="Helvetica Neue"/>
              </a:defRPr>
            </a:pPr>
            <a:r>
              <a:rPr sz="3300" b="1">
                <a:solidFill>
                  <a:srgbClr val="182B3A"/>
                </a:solidFill>
                <a:latin typeface="Helvetica Neue"/>
                <a:ea typeface="Helvetica Neue"/>
                <a:cs typeface="Helvetica Neue"/>
              </a:rPr>
              <a:t>A wider boundary: sandbox runtime</a:t>
            </a:r>
          </a:p>
        </p:txBody>
      </p:sp>
      <p:sp>
        <p:nvSpPr>
          <p:cNvPr id="2" name="">
            <a:extLst xmlns:a="http://schemas.openxmlformats.org/drawingml/2006/main">
              <a:ext uri="{FF2B5EF4-FFF2-40B4-BE49-F238E27FC236}">
                <a16:creationId xmlns:a16="http://schemas.microsoft.com/office/drawing/2014/main" id="{6AAC224E-0FAE-4B83-B9AE-A3851A263193}"/>
              </a:ext>
            </a:extLst>
          </p:cNvPr>
          <p:cNvSpPr>
            <a:spLocks xmlns:a="http://schemas.openxmlformats.org/drawingml/2006/main" noGrp="1"/>
          </p:cNvSpPr>
          <p:nvPr/>
        </p:nvSpPr>
        <p:spPr>
          <a:xfrm xmlns:a="http://schemas.openxmlformats.org/drawingml/2006/main">
            <a:off x="609600" y="63817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75"/>
                </a:solidFill>
                <a:latin typeface="Helvetica Neue"/>
                <a:ea typeface="Helvetica Neue"/>
                <a:cs typeface="Helvetica Neue"/>
              </a:defRPr>
            </a:pPr>
            <a:r>
              <a:rPr sz="1200" b="0">
                <a:solidFill>
                  <a:srgbClr val="566675"/>
                </a:solidFill>
                <a:latin typeface="Helvetica Neue"/>
                <a:ea typeface="Helvetica Neue"/>
                <a:cs typeface="Helvetica Neue"/>
              </a:rPr>
              <a:t>Session 3  /  Sandboxing</a:t>
            </a:r>
          </a:p>
        </p:txBody>
      </p:sp>
      <p:sp>
        <p:nvSpPr>
          <p:cNvPr id="3" name="">
            <a:extLst xmlns:a="http://schemas.openxmlformats.org/drawingml/2006/main">
              <a:ext uri="{FF2B5EF4-FFF2-40B4-BE49-F238E27FC236}">
                <a16:creationId xmlns:a16="http://schemas.microsoft.com/office/drawing/2014/main" id="{60BDEC92-C18F-4BE2-9567-66395B66A2B3}"/>
              </a:ext>
            </a:extLst>
          </p:cNvPr>
          <p:cNvSpPr>
            <a:spLocks xmlns:a="http://schemas.openxmlformats.org/drawingml/2006/main" noGrp="1"/>
          </p:cNvSpPr>
          <p:nvPr/>
        </p:nvSpPr>
        <p:spPr>
          <a:xfrm xmlns:a="http://schemas.openxmlformats.org/drawingml/2006/main">
            <a:off x="110109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75"/>
                </a:solidFill>
                <a:latin typeface="Helvetica Neue"/>
                <a:ea typeface="Helvetica Neue"/>
                <a:cs typeface="Helvetica Neue"/>
              </a:defRPr>
            </a:pPr>
            <a:r>
              <a:rPr sz="1200" b="0">
                <a:solidFill>
                  <a:srgbClr val="566675"/>
                </a:solidFill>
                <a:latin typeface="Helvetica Neue"/>
                <a:ea typeface="Helvetica Neue"/>
                <a:cs typeface="Helvetica Neue"/>
              </a:rPr>
              <a:t>13</a:t>
            </a:r>
          </a:p>
        </p:txBody>
      </p:sp>
      <p:sp>
        <p:nvSpPr>
          <p:cNvPr id="4" name="">
            <a:extLst xmlns:a="http://schemas.openxmlformats.org/drawingml/2006/main">
              <a:ext uri="{FF2B5EF4-FFF2-40B4-BE49-F238E27FC236}">
                <a16:creationId xmlns:a16="http://schemas.microsoft.com/office/drawing/2014/main" id="{AA0BF89C-1592-4CD7-840F-0A39320ACAEA}"/>
              </a:ext>
            </a:extLst>
          </p:cNvPr>
          <p:cNvSpPr>
            <a:spLocks xmlns:a="http://schemas.openxmlformats.org/drawingml/2006/main" noGrp="1"/>
          </p:cNvSpPr>
          <p:nvPr/>
        </p:nvSpPr>
        <p:spPr>
          <a:xfrm xmlns:a="http://schemas.openxmlformats.org/drawingml/2006/main">
            <a:off x="609600" y="1752600"/>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Coverage</a:t>
            </a:r>
          </a:p>
        </p:txBody>
      </p:sp>
      <p:sp>
        <p:nvSpPr>
          <p:cNvPr id="5" name="">
            <a:extLst xmlns:a="http://schemas.openxmlformats.org/drawingml/2006/main">
              <a:ext uri="{FF2B5EF4-FFF2-40B4-BE49-F238E27FC236}">
                <a16:creationId xmlns:a16="http://schemas.microsoft.com/office/drawing/2014/main" id="{1362157F-B1A4-46AB-8099-998065568DA2}"/>
              </a:ext>
            </a:extLst>
          </p:cNvPr>
          <p:cNvSpPr>
            <a:spLocks xmlns:a="http://schemas.openxmlformats.org/drawingml/2006/main" noGrp="1"/>
          </p:cNvSpPr>
          <p:nvPr/>
        </p:nvSpPr>
        <p:spPr>
          <a:xfrm xmlns:a="http://schemas.openxmlformats.org/drawingml/2006/main">
            <a:off x="3276600" y="1752600"/>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Wrap the whole process, including locally launched helpers.</a:t>
            </a:r>
          </a:p>
        </p:txBody>
      </p:sp>
      <p:sp>
        <p:nvSpPr>
          <p:cNvPr id="6" name="">
            <a:extLst xmlns:a="http://schemas.openxmlformats.org/drawingml/2006/main">
              <a:ext uri="{FF2B5EF4-FFF2-40B4-BE49-F238E27FC236}">
                <a16:creationId xmlns:a16="http://schemas.microsoft.com/office/drawing/2014/main" id="{22AEA239-7ACA-4056-BE48-BE2B36A2F897}"/>
              </a:ext>
            </a:extLst>
          </p:cNvPr>
          <p:cNvSpPr>
            <a:spLocks xmlns:a="http://schemas.openxmlformats.org/drawingml/2006/main" noGrp="1"/>
          </p:cNvSpPr>
          <p:nvPr/>
        </p:nvSpPr>
        <p:spPr>
          <a:xfrm xmlns:a="http://schemas.openxmlformats.org/drawingml/2006/main">
            <a:off x="609600" y="2781300"/>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Launch after setup</a:t>
            </a:r>
          </a:p>
        </p:txBody>
      </p:sp>
      <p:sp>
        <p:nvSpPr>
          <p:cNvPr id="7" name="">
            <a:extLst xmlns:a="http://schemas.openxmlformats.org/drawingml/2006/main">
              <a:ext uri="{FF2B5EF4-FFF2-40B4-BE49-F238E27FC236}">
                <a16:creationId xmlns:a16="http://schemas.microsoft.com/office/drawing/2014/main" id="{D3D9F3B9-3386-4AC6-8175-7814CBA87832}"/>
              </a:ext>
            </a:extLst>
          </p:cNvPr>
          <p:cNvSpPr>
            <a:spLocks xmlns:a="http://schemas.openxmlformats.org/drawingml/2006/main" noGrp="1"/>
          </p:cNvSpPr>
          <p:nvPr/>
        </p:nvSpPr>
        <p:spPr>
          <a:xfrm xmlns:a="http://schemas.openxmlformats.org/drawingml/2006/main">
            <a:off x="3276600" y="2781300"/>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npx @anthropic-ai/sandbox-runtime claude</a:t>
            </a:r>
          </a:p>
        </p:txBody>
      </p:sp>
      <p:sp>
        <p:nvSpPr>
          <p:cNvPr id="8" name="">
            <a:extLst xmlns:a="http://schemas.openxmlformats.org/drawingml/2006/main">
              <a:ext uri="{FF2B5EF4-FFF2-40B4-BE49-F238E27FC236}">
                <a16:creationId xmlns:a16="http://schemas.microsoft.com/office/drawing/2014/main" id="{3FE869D7-532B-4E84-BCCE-F7AF9F74A3F4}"/>
              </a:ext>
            </a:extLst>
          </p:cNvPr>
          <p:cNvSpPr>
            <a:spLocks xmlns:a="http://schemas.openxmlformats.org/drawingml/2006/main" noGrp="1"/>
          </p:cNvSpPr>
          <p:nvPr/>
        </p:nvSpPr>
        <p:spPr>
          <a:xfrm xmlns:a="http://schemas.openxmlformats.org/drawingml/2006/main">
            <a:off x="609600" y="3810000"/>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Trade-off</a:t>
            </a:r>
          </a:p>
        </p:txBody>
      </p:sp>
      <p:sp>
        <p:nvSpPr>
          <p:cNvPr id="9" name="">
            <a:extLst xmlns:a="http://schemas.openxmlformats.org/drawingml/2006/main">
              <a:ext uri="{FF2B5EF4-FFF2-40B4-BE49-F238E27FC236}">
                <a16:creationId xmlns:a16="http://schemas.microsoft.com/office/drawing/2014/main" id="{9A7B614B-C58B-48CE-B144-8D978862F38F}"/>
              </a:ext>
            </a:extLst>
          </p:cNvPr>
          <p:cNvSpPr>
            <a:spLocks xmlns:a="http://schemas.openxmlformats.org/drawingml/2006/main" noGrp="1"/>
          </p:cNvSpPr>
          <p:nvPr/>
        </p:nvSpPr>
        <p:spPr>
          <a:xfrm xmlns:a="http://schemas.openxmlformats.org/drawingml/2006/main">
            <a:off x="3276600" y="3810000"/>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Lightweight and usable for other programs, but a beta runtime and separate policy.</a:t>
            </a:r>
          </a:p>
        </p:txBody>
      </p:sp>
      <p:sp>
        <p:nvSpPr>
          <p:cNvPr id="10" name="">
            <a:extLst xmlns:a="http://schemas.openxmlformats.org/drawingml/2006/main">
              <a:ext uri="{FF2B5EF4-FFF2-40B4-BE49-F238E27FC236}">
                <a16:creationId xmlns:a16="http://schemas.microsoft.com/office/drawing/2014/main" id="{C413B441-0B7B-47D9-B668-18BB4FFC7DBA}"/>
              </a:ext>
            </a:extLst>
          </p:cNvPr>
          <p:cNvSpPr>
            <a:spLocks xmlns:a="http://schemas.openxmlformats.org/drawingml/2006/main" noGrp="1"/>
          </p:cNvSpPr>
          <p:nvPr/>
        </p:nvSpPr>
        <p:spPr>
          <a:xfrm xmlns:a="http://schemas.openxmlformats.org/drawingml/2006/main">
            <a:off x="609600" y="4838700"/>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Remaining boundary</a:t>
            </a:r>
          </a:p>
        </p:txBody>
      </p:sp>
      <p:sp>
        <p:nvSpPr>
          <p:cNvPr id="11" name="">
            <a:extLst xmlns:a="http://schemas.openxmlformats.org/drawingml/2006/main">
              <a:ext uri="{FF2B5EF4-FFF2-40B4-BE49-F238E27FC236}">
                <a16:creationId xmlns:a16="http://schemas.microsoft.com/office/drawing/2014/main" id="{D6E8F979-D732-4E02-9E0B-5F304BDDD636}"/>
              </a:ext>
            </a:extLst>
          </p:cNvPr>
          <p:cNvSpPr>
            <a:spLocks xmlns:a="http://schemas.openxmlformats.org/drawingml/2006/main" noGrp="1"/>
          </p:cNvSpPr>
          <p:nvPr/>
        </p:nvSpPr>
        <p:spPr>
          <a:xfrm xmlns:a="http://schemas.openxmlformats.org/drawingml/2006/main">
            <a:off x="3276600" y="4838700"/>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Remote systems still enforce their own permissions.</a:t>
            </a:r>
          </a:p>
        </p:txBody>
      </p:sp>
    </p:spTree>
    <p:extLst>
      <p:ext uri="{BB962C8B-B14F-4D97-AF65-F5344CB8AC3E}">
        <p14:creationId xmlns:p14="http://schemas.microsoft.com/office/powerpoint/2010/main" val="41862338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5923C5B-1FCB-4030-9E6E-1ADAC0C5E254}"/>
              </a:ext>
            </a:extLst>
          </p:cNvPr>
          <p:cNvSpPr>
            <a:spLocks xmlns:a="http://schemas.openxmlformats.org/drawingml/2006/main" noGrp="1"/>
          </p:cNvSpPr>
          <p:nvPr/>
        </p:nvSpPr>
        <p:spPr>
          <a:xfrm xmlns:a="http://schemas.openxmlformats.org/drawingml/2006/main">
            <a:off x="609600" y="457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2B3A"/>
                </a:solidFill>
                <a:latin typeface="Helvetica Neue"/>
                <a:ea typeface="Helvetica Neue"/>
                <a:cs typeface="Helvetica Neue"/>
              </a:defRPr>
            </a:pPr>
            <a:r>
              <a:rPr sz="3300" b="1">
                <a:solidFill>
                  <a:srgbClr val="182B3A"/>
                </a:solidFill>
                <a:latin typeface="Helvetica Neue"/>
                <a:ea typeface="Helvetica Neue"/>
                <a:cs typeface="Helvetica Neue"/>
              </a:rPr>
              <a:t>Why I prefer infrastructure boundaries</a:t>
            </a:r>
          </a:p>
        </p:txBody>
      </p:sp>
      <p:sp>
        <p:nvSpPr>
          <p:cNvPr id="2" name="">
            <a:extLst xmlns:a="http://schemas.openxmlformats.org/drawingml/2006/main">
              <a:ext uri="{FF2B5EF4-FFF2-40B4-BE49-F238E27FC236}">
                <a16:creationId xmlns:a16="http://schemas.microsoft.com/office/drawing/2014/main" id="{EF46F6D9-3340-4340-87DB-F04CFB44109F}"/>
              </a:ext>
            </a:extLst>
          </p:cNvPr>
          <p:cNvSpPr>
            <a:spLocks xmlns:a="http://schemas.openxmlformats.org/drawingml/2006/main" noGrp="1"/>
          </p:cNvSpPr>
          <p:nvPr/>
        </p:nvSpPr>
        <p:spPr>
          <a:xfrm xmlns:a="http://schemas.openxmlformats.org/drawingml/2006/main">
            <a:off x="609600" y="63817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75"/>
                </a:solidFill>
                <a:latin typeface="Helvetica Neue"/>
                <a:ea typeface="Helvetica Neue"/>
                <a:cs typeface="Helvetica Neue"/>
              </a:defRPr>
            </a:pPr>
            <a:r>
              <a:rPr sz="1200" b="0">
                <a:solidFill>
                  <a:srgbClr val="566675"/>
                </a:solidFill>
                <a:latin typeface="Helvetica Neue"/>
                <a:ea typeface="Helvetica Neue"/>
                <a:cs typeface="Helvetica Neue"/>
              </a:rPr>
              <a:t>Session 3  /  Sandboxing</a:t>
            </a:r>
          </a:p>
        </p:txBody>
      </p:sp>
      <p:sp>
        <p:nvSpPr>
          <p:cNvPr id="3" name="">
            <a:extLst xmlns:a="http://schemas.openxmlformats.org/drawingml/2006/main">
              <a:ext uri="{FF2B5EF4-FFF2-40B4-BE49-F238E27FC236}">
                <a16:creationId xmlns:a16="http://schemas.microsoft.com/office/drawing/2014/main" id="{ACA4D545-BB56-42F2-BF56-D5A3F78FB427}"/>
              </a:ext>
            </a:extLst>
          </p:cNvPr>
          <p:cNvSpPr>
            <a:spLocks xmlns:a="http://schemas.openxmlformats.org/drawingml/2006/main" noGrp="1"/>
          </p:cNvSpPr>
          <p:nvPr/>
        </p:nvSpPr>
        <p:spPr>
          <a:xfrm xmlns:a="http://schemas.openxmlformats.org/drawingml/2006/main">
            <a:off x="110109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75"/>
                </a:solidFill>
                <a:latin typeface="Helvetica Neue"/>
                <a:ea typeface="Helvetica Neue"/>
                <a:cs typeface="Helvetica Neue"/>
              </a:defRPr>
            </a:pPr>
            <a:r>
              <a:rPr sz="1200" b="0">
                <a:solidFill>
                  <a:srgbClr val="566675"/>
                </a:solidFill>
                <a:latin typeface="Helvetica Neue"/>
                <a:ea typeface="Helvetica Neue"/>
                <a:cs typeface="Helvetica Neue"/>
              </a:rPr>
              <a:t>14</a:t>
            </a:r>
          </a:p>
        </p:txBody>
      </p:sp>
      <p:sp>
        <p:nvSpPr>
          <p:cNvPr id="4" name="">
            <a:extLst xmlns:a="http://schemas.openxmlformats.org/drawingml/2006/main">
              <a:ext uri="{FF2B5EF4-FFF2-40B4-BE49-F238E27FC236}">
                <a16:creationId xmlns:a16="http://schemas.microsoft.com/office/drawing/2014/main" id="{5C469C65-679C-47A3-B118-36C53C177328}"/>
              </a:ext>
            </a:extLst>
          </p:cNvPr>
          <p:cNvSpPr>
            <a:spLocks xmlns:a="http://schemas.openxmlformats.org/drawingml/2006/main" noGrp="1"/>
          </p:cNvSpPr>
          <p:nvPr/>
        </p:nvSpPr>
        <p:spPr>
          <a:xfrm xmlns:a="http://schemas.openxmlformats.org/drawingml/2006/main">
            <a:off x="609600" y="1752600"/>
            <a:ext cx="10858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26D77"/>
                </a:solidFill>
                <a:latin typeface="Helvetica Neue"/>
                <a:ea typeface="Helvetica Neue"/>
                <a:cs typeface="Helvetica Neue"/>
              </a:defRPr>
            </a:pPr>
            <a:r>
              <a:rPr sz="2700" b="1">
                <a:solidFill>
                  <a:srgbClr val="126D77"/>
                </a:solidFill>
                <a:latin typeface="Helvetica Neue"/>
                <a:ea typeface="Helvetica Neue"/>
                <a:cs typeface="Helvetica Neue"/>
              </a:rPr>
              <a:t>One environment policy for the team’s tool mix</a:t>
            </a:r>
          </a:p>
        </p:txBody>
      </p:sp>
      <p:sp>
        <p:nvSpPr>
          <p:cNvPr id="5" name="">
            <a:extLst xmlns:a="http://schemas.openxmlformats.org/drawingml/2006/main">
              <a:ext uri="{FF2B5EF4-FFF2-40B4-BE49-F238E27FC236}">
                <a16:creationId xmlns:a16="http://schemas.microsoft.com/office/drawing/2014/main" id="{176059C8-05B7-48FE-86D3-EE7CD08A8514}"/>
              </a:ext>
            </a:extLst>
          </p:cNvPr>
          <p:cNvSpPr>
            <a:spLocks xmlns:a="http://schemas.openxmlformats.org/drawingml/2006/main" noGrp="1"/>
          </p:cNvSpPr>
          <p:nvPr/>
        </p:nvSpPr>
        <p:spPr>
          <a:xfrm xmlns:a="http://schemas.openxmlformats.org/drawingml/2006/main">
            <a:off x="609600" y="3124200"/>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Less tool lock-in</a:t>
            </a:r>
          </a:p>
        </p:txBody>
      </p:sp>
      <p:sp>
        <p:nvSpPr>
          <p:cNvPr id="6" name="">
            <a:extLst xmlns:a="http://schemas.openxmlformats.org/drawingml/2006/main">
              <a:ext uri="{FF2B5EF4-FFF2-40B4-BE49-F238E27FC236}">
                <a16:creationId xmlns:a16="http://schemas.microsoft.com/office/drawing/2014/main" id="{46229D0F-BA6F-42B5-8738-B640AAFDB22B}"/>
              </a:ext>
            </a:extLst>
          </p:cNvPr>
          <p:cNvSpPr>
            <a:spLocks xmlns:a="http://schemas.openxmlformats.org/drawingml/2006/main" noGrp="1"/>
          </p:cNvSpPr>
          <p:nvPr/>
        </p:nvSpPr>
        <p:spPr>
          <a:xfrm xmlns:a="http://schemas.openxmlformats.org/drawingml/2006/main">
            <a:off x="3276600" y="3124200"/>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Workspace exposure, network access and identity stay with the environment.</a:t>
            </a:r>
          </a:p>
        </p:txBody>
      </p:sp>
      <p:sp>
        <p:nvSpPr>
          <p:cNvPr id="7" name="">
            <a:extLst xmlns:a="http://schemas.openxmlformats.org/drawingml/2006/main">
              <a:ext uri="{FF2B5EF4-FFF2-40B4-BE49-F238E27FC236}">
                <a16:creationId xmlns:a16="http://schemas.microsoft.com/office/drawing/2014/main" id="{FD8C100B-8956-4820-BF50-33DF08736767}"/>
              </a:ext>
            </a:extLst>
          </p:cNvPr>
          <p:cNvSpPr>
            <a:spLocks xmlns:a="http://schemas.openxmlformats.org/drawingml/2006/main" noGrp="1"/>
          </p:cNvSpPr>
          <p:nvPr/>
        </p:nvSpPr>
        <p:spPr>
          <a:xfrm xmlns:a="http://schemas.openxmlformats.org/drawingml/2006/main">
            <a:off x="609600" y="4124325"/>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Clear ownership</a:t>
            </a:r>
          </a:p>
        </p:txBody>
      </p:sp>
      <p:sp>
        <p:nvSpPr>
          <p:cNvPr id="8" name="">
            <a:extLst xmlns:a="http://schemas.openxmlformats.org/drawingml/2006/main">
              <a:ext uri="{FF2B5EF4-FFF2-40B4-BE49-F238E27FC236}">
                <a16:creationId xmlns:a16="http://schemas.microsoft.com/office/drawing/2014/main" id="{613DBB48-6E14-4C98-BCF0-EF303C00D44D}"/>
              </a:ext>
            </a:extLst>
          </p:cNvPr>
          <p:cNvSpPr>
            <a:spLocks xmlns:a="http://schemas.openxmlformats.org/drawingml/2006/main" noGrp="1"/>
          </p:cNvSpPr>
          <p:nvPr/>
        </p:nvSpPr>
        <p:spPr>
          <a:xfrm xmlns:a="http://schemas.openxmlformats.org/drawingml/2006/main">
            <a:off x="3276600" y="4124325"/>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The platform team maintains the boundary. Developers choose approved tools.</a:t>
            </a:r>
          </a:p>
        </p:txBody>
      </p:sp>
      <p:sp>
        <p:nvSpPr>
          <p:cNvPr id="9" name="">
            <a:extLst xmlns:a="http://schemas.openxmlformats.org/drawingml/2006/main">
              <a:ext uri="{FF2B5EF4-FFF2-40B4-BE49-F238E27FC236}">
                <a16:creationId xmlns:a16="http://schemas.microsoft.com/office/drawing/2014/main" id="{7C84607B-B222-490A-BCBF-F20126A5EA91}"/>
              </a:ext>
            </a:extLst>
          </p:cNvPr>
          <p:cNvSpPr>
            <a:spLocks xmlns:a="http://schemas.openxmlformats.org/drawingml/2006/main" noGrp="1"/>
          </p:cNvSpPr>
          <p:nvPr/>
        </p:nvSpPr>
        <p:spPr>
          <a:xfrm xmlns:a="http://schemas.openxmlformats.org/drawingml/2006/main">
            <a:off x="609600" y="5124450"/>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Real cost</a:t>
            </a:r>
          </a:p>
        </p:txBody>
      </p:sp>
      <p:sp>
        <p:nvSpPr>
          <p:cNvPr id="10" name="">
            <a:extLst xmlns:a="http://schemas.openxmlformats.org/drawingml/2006/main">
              <a:ext uri="{FF2B5EF4-FFF2-40B4-BE49-F238E27FC236}">
                <a16:creationId xmlns:a16="http://schemas.microsoft.com/office/drawing/2014/main" id="{AEE8CD87-291E-4085-891C-305061D880B2}"/>
              </a:ext>
            </a:extLst>
          </p:cNvPr>
          <p:cNvSpPr>
            <a:spLocks xmlns:a="http://schemas.openxmlformats.org/drawingml/2006/main" noGrp="1"/>
          </p:cNvSpPr>
          <p:nvPr/>
        </p:nvSpPr>
        <p:spPr>
          <a:xfrm xmlns:a="http://schemas.openxmlformats.org/drawingml/2006/main">
            <a:off x="3276600" y="5124450"/>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Provisioning, updates, troubleshooting and lifecycle management.</a:t>
            </a:r>
          </a:p>
        </p:txBody>
      </p:sp>
    </p:spTree>
    <p:extLst>
      <p:ext uri="{BB962C8B-B14F-4D97-AF65-F5344CB8AC3E}">
        <p14:creationId xmlns:p14="http://schemas.microsoft.com/office/powerpoint/2010/main" val="169122722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5886260-D297-4B2E-A92D-496315E5EA09}"/>
              </a:ext>
            </a:extLst>
          </p:cNvPr>
          <p:cNvSpPr>
            <a:spLocks xmlns:a="http://schemas.openxmlformats.org/drawingml/2006/main" noGrp="1"/>
          </p:cNvSpPr>
          <p:nvPr/>
        </p:nvSpPr>
        <p:spPr>
          <a:xfrm xmlns:a="http://schemas.openxmlformats.org/drawingml/2006/main">
            <a:off x="609600" y="457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2B3A"/>
                </a:solidFill>
                <a:latin typeface="Helvetica Neue"/>
                <a:ea typeface="Helvetica Neue"/>
                <a:cs typeface="Helvetica Neue"/>
              </a:defRPr>
            </a:pPr>
            <a:r>
              <a:rPr sz="3300" b="1">
                <a:solidFill>
                  <a:srgbClr val="182B3A"/>
                </a:solidFill>
                <a:latin typeface="Helvetica Neue"/>
                <a:ea typeface="Helvetica Neue"/>
                <a:cs typeface="Helvetica Neue"/>
              </a:rPr>
              <a:t>Containers and dev containers</a:t>
            </a:r>
          </a:p>
        </p:txBody>
      </p:sp>
      <p:sp>
        <p:nvSpPr>
          <p:cNvPr id="2" name="">
            <a:extLst xmlns:a="http://schemas.openxmlformats.org/drawingml/2006/main">
              <a:ext uri="{FF2B5EF4-FFF2-40B4-BE49-F238E27FC236}">
                <a16:creationId xmlns:a16="http://schemas.microsoft.com/office/drawing/2014/main" id="{9BB21DA9-D303-4EA0-ABE3-21958751F7A5}"/>
              </a:ext>
            </a:extLst>
          </p:cNvPr>
          <p:cNvSpPr>
            <a:spLocks xmlns:a="http://schemas.openxmlformats.org/drawingml/2006/main" noGrp="1"/>
          </p:cNvSpPr>
          <p:nvPr/>
        </p:nvSpPr>
        <p:spPr>
          <a:xfrm xmlns:a="http://schemas.openxmlformats.org/drawingml/2006/main">
            <a:off x="609600" y="63817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75"/>
                </a:solidFill>
                <a:latin typeface="Helvetica Neue"/>
                <a:ea typeface="Helvetica Neue"/>
                <a:cs typeface="Helvetica Neue"/>
              </a:defRPr>
            </a:pPr>
            <a:r>
              <a:rPr sz="1200" b="0">
                <a:solidFill>
                  <a:srgbClr val="566675"/>
                </a:solidFill>
                <a:latin typeface="Helvetica Neue"/>
                <a:ea typeface="Helvetica Neue"/>
                <a:cs typeface="Helvetica Neue"/>
              </a:rPr>
              <a:t>Session 3  /  Sandboxing</a:t>
            </a:r>
          </a:p>
        </p:txBody>
      </p:sp>
      <p:sp>
        <p:nvSpPr>
          <p:cNvPr id="3" name="">
            <a:extLst xmlns:a="http://schemas.openxmlformats.org/drawingml/2006/main">
              <a:ext uri="{FF2B5EF4-FFF2-40B4-BE49-F238E27FC236}">
                <a16:creationId xmlns:a16="http://schemas.microsoft.com/office/drawing/2014/main" id="{70EB57F0-CC08-4BD5-B474-CBFF2978DD7A}"/>
              </a:ext>
            </a:extLst>
          </p:cNvPr>
          <p:cNvSpPr>
            <a:spLocks xmlns:a="http://schemas.openxmlformats.org/drawingml/2006/main" noGrp="1"/>
          </p:cNvSpPr>
          <p:nvPr/>
        </p:nvSpPr>
        <p:spPr>
          <a:xfrm xmlns:a="http://schemas.openxmlformats.org/drawingml/2006/main">
            <a:off x="110109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75"/>
                </a:solidFill>
                <a:latin typeface="Helvetica Neue"/>
                <a:ea typeface="Helvetica Neue"/>
                <a:cs typeface="Helvetica Neue"/>
              </a:defRPr>
            </a:pPr>
            <a:r>
              <a:rPr sz="1200" b="0">
                <a:solidFill>
                  <a:srgbClr val="566675"/>
                </a:solidFill>
                <a:latin typeface="Helvetica Neue"/>
                <a:ea typeface="Helvetica Neue"/>
                <a:cs typeface="Helvetica Neue"/>
              </a:rPr>
              <a:t>15</a:t>
            </a:r>
          </a:p>
        </p:txBody>
      </p:sp>
      <p:sp>
        <p:nvSpPr>
          <p:cNvPr id="4" name="">
            <a:extLst xmlns:a="http://schemas.openxmlformats.org/drawingml/2006/main">
              <a:ext uri="{FF2B5EF4-FFF2-40B4-BE49-F238E27FC236}">
                <a16:creationId xmlns:a16="http://schemas.microsoft.com/office/drawing/2014/main" id="{7F9DBA5D-A13A-4F0E-B26D-BF974F41E060}"/>
              </a:ext>
            </a:extLst>
          </p:cNvPr>
          <p:cNvSpPr>
            <a:spLocks xmlns:a="http://schemas.openxmlformats.org/drawingml/2006/main" noGrp="1"/>
          </p:cNvSpPr>
          <p:nvPr/>
        </p:nvSpPr>
        <p:spPr>
          <a:xfrm xmlns:a="http://schemas.openxmlformats.org/drawingml/2006/main">
            <a:off x="609600" y="1752600"/>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Scope</a:t>
            </a:r>
          </a:p>
        </p:txBody>
      </p:sp>
      <p:sp>
        <p:nvSpPr>
          <p:cNvPr id="5" name="">
            <a:extLst xmlns:a="http://schemas.openxmlformats.org/drawingml/2006/main">
              <a:ext uri="{FF2B5EF4-FFF2-40B4-BE49-F238E27FC236}">
                <a16:creationId xmlns:a16="http://schemas.microsoft.com/office/drawing/2014/main" id="{2F275E22-4949-41AE-951E-5615E4444C6C}"/>
              </a:ext>
            </a:extLst>
          </p:cNvPr>
          <p:cNvSpPr>
            <a:spLocks xmlns:a="http://schemas.openxmlformats.org/drawingml/2006/main" noGrp="1"/>
          </p:cNvSpPr>
          <p:nvPr/>
        </p:nvSpPr>
        <p:spPr>
          <a:xfrm xmlns:a="http://schemas.openxmlformats.org/drawingml/2006/main">
            <a:off x="3276600" y="1752600"/>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A complete toolchain and its local helper processes.</a:t>
            </a:r>
          </a:p>
        </p:txBody>
      </p:sp>
      <p:sp>
        <p:nvSpPr>
          <p:cNvPr id="6" name="">
            <a:extLst xmlns:a="http://schemas.openxmlformats.org/drawingml/2006/main">
              <a:ext uri="{FF2B5EF4-FFF2-40B4-BE49-F238E27FC236}">
                <a16:creationId xmlns:a16="http://schemas.microsoft.com/office/drawing/2014/main" id="{33F9A0D1-4DA4-4436-A397-A2F1F17E90A0}"/>
              </a:ext>
            </a:extLst>
          </p:cNvPr>
          <p:cNvSpPr>
            <a:spLocks xmlns:a="http://schemas.openxmlformats.org/drawingml/2006/main" noGrp="1"/>
          </p:cNvSpPr>
          <p:nvPr/>
        </p:nvSpPr>
        <p:spPr>
          <a:xfrm xmlns:a="http://schemas.openxmlformats.org/drawingml/2006/main">
            <a:off x="609600" y="2781300"/>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Team benefit</a:t>
            </a:r>
          </a:p>
        </p:txBody>
      </p:sp>
      <p:sp>
        <p:nvSpPr>
          <p:cNvPr id="7" name="">
            <a:extLst xmlns:a="http://schemas.openxmlformats.org/drawingml/2006/main">
              <a:ext uri="{FF2B5EF4-FFF2-40B4-BE49-F238E27FC236}">
                <a16:creationId xmlns:a16="http://schemas.microsoft.com/office/drawing/2014/main" id="{AA57CB91-9960-4AB8-9DB3-50A9D2102047}"/>
              </a:ext>
            </a:extLst>
          </p:cNvPr>
          <p:cNvSpPr>
            <a:spLocks xmlns:a="http://schemas.openxmlformats.org/drawingml/2006/main" noGrp="1"/>
          </p:cNvSpPr>
          <p:nvPr/>
        </p:nvSpPr>
        <p:spPr>
          <a:xfrm xmlns:a="http://schemas.openxmlformats.org/drawingml/2006/main">
            <a:off x="3276600" y="2781300"/>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Reproducible dependencies and a disposable workspace.</a:t>
            </a:r>
          </a:p>
        </p:txBody>
      </p:sp>
      <p:sp>
        <p:nvSpPr>
          <p:cNvPr id="8" name="">
            <a:extLst xmlns:a="http://schemas.openxmlformats.org/drawingml/2006/main">
              <a:ext uri="{FF2B5EF4-FFF2-40B4-BE49-F238E27FC236}">
                <a16:creationId xmlns:a16="http://schemas.microsoft.com/office/drawing/2014/main" id="{40D7AB42-9797-4224-8A1B-4329C7C7C826}"/>
              </a:ext>
            </a:extLst>
          </p:cNvPr>
          <p:cNvSpPr>
            <a:spLocks xmlns:a="http://schemas.openxmlformats.org/drawingml/2006/main" noGrp="1"/>
          </p:cNvSpPr>
          <p:nvPr/>
        </p:nvSpPr>
        <p:spPr>
          <a:xfrm xmlns:a="http://schemas.openxmlformats.org/drawingml/2006/main">
            <a:off x="609600" y="3810000"/>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Baseline</a:t>
            </a:r>
          </a:p>
        </p:txBody>
      </p:sp>
      <p:sp>
        <p:nvSpPr>
          <p:cNvPr id="9" name="">
            <a:extLst xmlns:a="http://schemas.openxmlformats.org/drawingml/2006/main">
              <a:ext uri="{FF2B5EF4-FFF2-40B4-BE49-F238E27FC236}">
                <a16:creationId xmlns:a16="http://schemas.microsoft.com/office/drawing/2014/main" id="{016F267E-DD4A-4A03-B26A-42C992429620}"/>
              </a:ext>
            </a:extLst>
          </p:cNvPr>
          <p:cNvSpPr>
            <a:spLocks xmlns:a="http://schemas.openxmlformats.org/drawingml/2006/main" noGrp="1"/>
          </p:cNvSpPr>
          <p:nvPr/>
        </p:nvSpPr>
        <p:spPr>
          <a:xfrm xmlns:a="http://schemas.openxmlformats.org/drawingml/2006/main">
            <a:off x="3276600" y="3810000"/>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Non-root user, narrow mounts, limited resources, explicit egress.</a:t>
            </a:r>
          </a:p>
        </p:txBody>
      </p:sp>
      <p:sp>
        <p:nvSpPr>
          <p:cNvPr id="10" name="">
            <a:extLst xmlns:a="http://schemas.openxmlformats.org/drawingml/2006/main">
              <a:ext uri="{FF2B5EF4-FFF2-40B4-BE49-F238E27FC236}">
                <a16:creationId xmlns:a16="http://schemas.microsoft.com/office/drawing/2014/main" id="{880CA952-82F5-4644-A65C-096938C95B83}"/>
              </a:ext>
            </a:extLst>
          </p:cNvPr>
          <p:cNvSpPr>
            <a:spLocks xmlns:a="http://schemas.openxmlformats.org/drawingml/2006/main" noGrp="1"/>
          </p:cNvSpPr>
          <p:nvPr/>
        </p:nvSpPr>
        <p:spPr>
          <a:xfrm xmlns:a="http://schemas.openxmlformats.org/drawingml/2006/main">
            <a:off x="609600" y="4838700"/>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Trade-off</a:t>
            </a:r>
          </a:p>
        </p:txBody>
      </p:sp>
      <p:sp>
        <p:nvSpPr>
          <p:cNvPr id="11" name="">
            <a:extLst xmlns:a="http://schemas.openxmlformats.org/drawingml/2006/main">
              <a:ext uri="{FF2B5EF4-FFF2-40B4-BE49-F238E27FC236}">
                <a16:creationId xmlns:a16="http://schemas.microsoft.com/office/drawing/2014/main" id="{A4363977-7009-4391-BD4A-96FB0FEF6FC3}"/>
              </a:ext>
            </a:extLst>
          </p:cNvPr>
          <p:cNvSpPr>
            <a:spLocks xmlns:a="http://schemas.openxmlformats.org/drawingml/2006/main" noGrp="1"/>
          </p:cNvSpPr>
          <p:nvPr/>
        </p:nvSpPr>
        <p:spPr>
          <a:xfrm xmlns:a="http://schemas.openxmlformats.org/drawingml/2006/main">
            <a:off x="3276600" y="4838700"/>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Shared host kernel. Privileged access and broad mounts weaken isolation.</a:t>
            </a:r>
          </a:p>
        </p:txBody>
      </p:sp>
    </p:spTree>
    <p:extLst>
      <p:ext uri="{BB962C8B-B14F-4D97-AF65-F5344CB8AC3E}">
        <p14:creationId xmlns:p14="http://schemas.microsoft.com/office/powerpoint/2010/main" val="63655057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C185FBD-A1CA-43D6-A70F-DDF13F811FC7}"/>
              </a:ext>
            </a:extLst>
          </p:cNvPr>
          <p:cNvSpPr>
            <a:spLocks xmlns:a="http://schemas.openxmlformats.org/drawingml/2006/main" noGrp="1"/>
          </p:cNvSpPr>
          <p:nvPr/>
        </p:nvSpPr>
        <p:spPr>
          <a:xfrm xmlns:a="http://schemas.openxmlformats.org/drawingml/2006/main">
            <a:off x="609600" y="457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2B3A"/>
                </a:solidFill>
                <a:latin typeface="Helvetica Neue"/>
                <a:ea typeface="Helvetica Neue"/>
                <a:cs typeface="Helvetica Neue"/>
              </a:defRPr>
            </a:pPr>
            <a:r>
              <a:rPr sz="3300" b="1">
                <a:solidFill>
                  <a:srgbClr val="182B3A"/>
                </a:solidFill>
                <a:latin typeface="Helvetica Neue"/>
                <a:ea typeface="Helvetica Neue"/>
                <a:cs typeface="Helvetica Neue"/>
              </a:rPr>
              <a:t>Virtual machines</a:t>
            </a:r>
          </a:p>
        </p:txBody>
      </p:sp>
      <p:sp>
        <p:nvSpPr>
          <p:cNvPr id="2" name="">
            <a:extLst xmlns:a="http://schemas.openxmlformats.org/drawingml/2006/main">
              <a:ext uri="{FF2B5EF4-FFF2-40B4-BE49-F238E27FC236}">
                <a16:creationId xmlns:a16="http://schemas.microsoft.com/office/drawing/2014/main" id="{EED6DA1F-1937-4D02-829F-B9580421C1BD}"/>
              </a:ext>
            </a:extLst>
          </p:cNvPr>
          <p:cNvSpPr>
            <a:spLocks xmlns:a="http://schemas.openxmlformats.org/drawingml/2006/main" noGrp="1"/>
          </p:cNvSpPr>
          <p:nvPr/>
        </p:nvSpPr>
        <p:spPr>
          <a:xfrm xmlns:a="http://schemas.openxmlformats.org/drawingml/2006/main">
            <a:off x="609600" y="63817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75"/>
                </a:solidFill>
                <a:latin typeface="Helvetica Neue"/>
                <a:ea typeface="Helvetica Neue"/>
                <a:cs typeface="Helvetica Neue"/>
              </a:defRPr>
            </a:pPr>
            <a:r>
              <a:rPr sz="1200" b="0">
                <a:solidFill>
                  <a:srgbClr val="566675"/>
                </a:solidFill>
                <a:latin typeface="Helvetica Neue"/>
                <a:ea typeface="Helvetica Neue"/>
                <a:cs typeface="Helvetica Neue"/>
              </a:rPr>
              <a:t>Session 3  /  Sandboxing</a:t>
            </a:r>
          </a:p>
        </p:txBody>
      </p:sp>
      <p:sp>
        <p:nvSpPr>
          <p:cNvPr id="3" name="">
            <a:extLst xmlns:a="http://schemas.openxmlformats.org/drawingml/2006/main">
              <a:ext uri="{FF2B5EF4-FFF2-40B4-BE49-F238E27FC236}">
                <a16:creationId xmlns:a16="http://schemas.microsoft.com/office/drawing/2014/main" id="{7B7EF84E-BCF9-476D-A53C-179B2F885740}"/>
              </a:ext>
            </a:extLst>
          </p:cNvPr>
          <p:cNvSpPr>
            <a:spLocks xmlns:a="http://schemas.openxmlformats.org/drawingml/2006/main" noGrp="1"/>
          </p:cNvSpPr>
          <p:nvPr/>
        </p:nvSpPr>
        <p:spPr>
          <a:xfrm xmlns:a="http://schemas.openxmlformats.org/drawingml/2006/main">
            <a:off x="110109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75"/>
                </a:solidFill>
                <a:latin typeface="Helvetica Neue"/>
                <a:ea typeface="Helvetica Neue"/>
                <a:cs typeface="Helvetica Neue"/>
              </a:defRPr>
            </a:pPr>
            <a:r>
              <a:rPr sz="1200" b="0">
                <a:solidFill>
                  <a:srgbClr val="566675"/>
                </a:solidFill>
                <a:latin typeface="Helvetica Neue"/>
                <a:ea typeface="Helvetica Neue"/>
                <a:cs typeface="Helvetica Neue"/>
              </a:rPr>
              <a:t>16</a:t>
            </a:r>
          </a:p>
        </p:txBody>
      </p:sp>
      <p:sp>
        <p:nvSpPr>
          <p:cNvPr id="4" name="">
            <a:extLst xmlns:a="http://schemas.openxmlformats.org/drawingml/2006/main">
              <a:ext uri="{FF2B5EF4-FFF2-40B4-BE49-F238E27FC236}">
                <a16:creationId xmlns:a16="http://schemas.microsoft.com/office/drawing/2014/main" id="{3E5586AB-E162-4E39-BBF7-18F7F3D21E4D}"/>
              </a:ext>
            </a:extLst>
          </p:cNvPr>
          <p:cNvSpPr>
            <a:spLocks xmlns:a="http://schemas.openxmlformats.org/drawingml/2006/main" noGrp="1"/>
          </p:cNvSpPr>
          <p:nvPr/>
        </p:nvSpPr>
        <p:spPr>
          <a:xfrm xmlns:a="http://schemas.openxmlformats.org/drawingml/2006/main">
            <a:off x="609600" y="1752600"/>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Scope</a:t>
            </a:r>
          </a:p>
        </p:txBody>
      </p:sp>
      <p:sp>
        <p:nvSpPr>
          <p:cNvPr id="5" name="">
            <a:extLst xmlns:a="http://schemas.openxmlformats.org/drawingml/2006/main">
              <a:ext uri="{FF2B5EF4-FFF2-40B4-BE49-F238E27FC236}">
                <a16:creationId xmlns:a16="http://schemas.microsoft.com/office/drawing/2014/main" id="{C6C464B1-0D23-44C0-B3EA-887FB0A202FE}"/>
              </a:ext>
            </a:extLst>
          </p:cNvPr>
          <p:cNvSpPr>
            <a:spLocks xmlns:a="http://schemas.openxmlformats.org/drawingml/2006/main" noGrp="1"/>
          </p:cNvSpPr>
          <p:nvPr/>
        </p:nvSpPr>
        <p:spPr>
          <a:xfrm xmlns:a="http://schemas.openxmlformats.org/drawingml/2006/main">
            <a:off x="3276600" y="1752600"/>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A guest operating system with its own kernel.</a:t>
            </a:r>
          </a:p>
        </p:txBody>
      </p:sp>
      <p:sp>
        <p:nvSpPr>
          <p:cNvPr id="6" name="">
            <a:extLst xmlns:a="http://schemas.openxmlformats.org/drawingml/2006/main">
              <a:ext uri="{FF2B5EF4-FFF2-40B4-BE49-F238E27FC236}">
                <a16:creationId xmlns:a16="http://schemas.microsoft.com/office/drawing/2014/main" id="{A6EBC361-7956-42CB-A4BC-E4FA11A34942}"/>
              </a:ext>
            </a:extLst>
          </p:cNvPr>
          <p:cNvSpPr>
            <a:spLocks xmlns:a="http://schemas.openxmlformats.org/drawingml/2006/main" noGrp="1"/>
          </p:cNvSpPr>
          <p:nvPr/>
        </p:nvSpPr>
        <p:spPr>
          <a:xfrm xmlns:a="http://schemas.openxmlformats.org/drawingml/2006/main">
            <a:off x="609600" y="2781300"/>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Good fit</a:t>
            </a:r>
          </a:p>
        </p:txBody>
      </p:sp>
      <p:sp>
        <p:nvSpPr>
          <p:cNvPr id="7" name="">
            <a:extLst xmlns:a="http://schemas.openxmlformats.org/drawingml/2006/main">
              <a:ext uri="{FF2B5EF4-FFF2-40B4-BE49-F238E27FC236}">
                <a16:creationId xmlns:a16="http://schemas.microsoft.com/office/drawing/2014/main" id="{120A9D2C-D1A0-443A-8CFA-EFB4404416E1}"/>
              </a:ext>
            </a:extLst>
          </p:cNvPr>
          <p:cNvSpPr>
            <a:spLocks xmlns:a="http://schemas.openxmlformats.org/drawingml/2006/main" noGrp="1"/>
          </p:cNvSpPr>
          <p:nvPr/>
        </p:nvSpPr>
        <p:spPr>
          <a:xfrm xmlns:a="http://schemas.openxmlformats.org/drawingml/2006/main">
            <a:off x="3276600" y="2781300"/>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Untrusted code or a requirement for stronger host separation.</a:t>
            </a:r>
          </a:p>
        </p:txBody>
      </p:sp>
      <p:sp>
        <p:nvSpPr>
          <p:cNvPr id="8" name="">
            <a:extLst xmlns:a="http://schemas.openxmlformats.org/drawingml/2006/main">
              <a:ext uri="{FF2B5EF4-FFF2-40B4-BE49-F238E27FC236}">
                <a16:creationId xmlns:a16="http://schemas.microsoft.com/office/drawing/2014/main" id="{1B6050FC-0270-4229-8805-D11DF7AFC797}"/>
              </a:ext>
            </a:extLst>
          </p:cNvPr>
          <p:cNvSpPr>
            <a:spLocks xmlns:a="http://schemas.openxmlformats.org/drawingml/2006/main" noGrp="1"/>
          </p:cNvSpPr>
          <p:nvPr/>
        </p:nvSpPr>
        <p:spPr>
          <a:xfrm xmlns:a="http://schemas.openxmlformats.org/drawingml/2006/main">
            <a:off x="609600" y="3810000"/>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Baseline</a:t>
            </a:r>
          </a:p>
        </p:txBody>
      </p:sp>
      <p:sp>
        <p:nvSpPr>
          <p:cNvPr id="9" name="">
            <a:extLst xmlns:a="http://schemas.openxmlformats.org/drawingml/2006/main">
              <a:ext uri="{FF2B5EF4-FFF2-40B4-BE49-F238E27FC236}">
                <a16:creationId xmlns:a16="http://schemas.microsoft.com/office/drawing/2014/main" id="{0C625DF6-9F8F-4493-B8B1-28EB35D65E41}"/>
              </a:ext>
            </a:extLst>
          </p:cNvPr>
          <p:cNvSpPr>
            <a:spLocks xmlns:a="http://schemas.openxmlformats.org/drawingml/2006/main" noGrp="1"/>
          </p:cNvSpPr>
          <p:nvPr/>
        </p:nvSpPr>
        <p:spPr>
          <a:xfrm xmlns:a="http://schemas.openxmlformats.org/drawingml/2006/main">
            <a:off x="3276600" y="3810000"/>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Project clone in the guest, scoped credentials, controlled egress.</a:t>
            </a:r>
          </a:p>
        </p:txBody>
      </p:sp>
      <p:sp>
        <p:nvSpPr>
          <p:cNvPr id="10" name="">
            <a:extLst xmlns:a="http://schemas.openxmlformats.org/drawingml/2006/main">
              <a:ext uri="{FF2B5EF4-FFF2-40B4-BE49-F238E27FC236}">
                <a16:creationId xmlns:a16="http://schemas.microsoft.com/office/drawing/2014/main" id="{3F19AACD-5D01-4BAC-89EE-7E8067FB11A6}"/>
              </a:ext>
            </a:extLst>
          </p:cNvPr>
          <p:cNvSpPr>
            <a:spLocks xmlns:a="http://schemas.openxmlformats.org/drawingml/2006/main" noGrp="1"/>
          </p:cNvSpPr>
          <p:nvPr/>
        </p:nvSpPr>
        <p:spPr>
          <a:xfrm xmlns:a="http://schemas.openxmlformats.org/drawingml/2006/main">
            <a:off x="609600" y="4838700"/>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Trade-off</a:t>
            </a:r>
          </a:p>
        </p:txBody>
      </p:sp>
      <p:sp>
        <p:nvSpPr>
          <p:cNvPr id="11" name="">
            <a:extLst xmlns:a="http://schemas.openxmlformats.org/drawingml/2006/main">
              <a:ext uri="{FF2B5EF4-FFF2-40B4-BE49-F238E27FC236}">
                <a16:creationId xmlns:a16="http://schemas.microsoft.com/office/drawing/2014/main" id="{2167DD6B-1201-4B3A-AE95-C83FEAD94500}"/>
              </a:ext>
            </a:extLst>
          </p:cNvPr>
          <p:cNvSpPr>
            <a:spLocks xmlns:a="http://schemas.openxmlformats.org/drawingml/2006/main" noGrp="1"/>
          </p:cNvSpPr>
          <p:nvPr/>
        </p:nvSpPr>
        <p:spPr>
          <a:xfrm xmlns:a="http://schemas.openxmlformats.org/drawingml/2006/main">
            <a:off x="3276600" y="4838700"/>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More resources and maintenance. Shared folders can reopen access.</a:t>
            </a:r>
          </a:p>
        </p:txBody>
      </p:sp>
    </p:spTree>
    <p:extLst>
      <p:ext uri="{BB962C8B-B14F-4D97-AF65-F5344CB8AC3E}">
        <p14:creationId xmlns:p14="http://schemas.microsoft.com/office/powerpoint/2010/main" val="201475759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797C222-F97D-445E-A35F-DFB57E129E52}"/>
              </a:ext>
            </a:extLst>
          </p:cNvPr>
          <p:cNvSpPr>
            <a:spLocks xmlns:a="http://schemas.openxmlformats.org/drawingml/2006/main" noGrp="1"/>
          </p:cNvSpPr>
          <p:nvPr/>
        </p:nvSpPr>
        <p:spPr>
          <a:xfrm xmlns:a="http://schemas.openxmlformats.org/drawingml/2006/main">
            <a:off x="609600" y="457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2B3A"/>
                </a:solidFill>
                <a:latin typeface="Helvetica Neue"/>
                <a:ea typeface="Helvetica Neue"/>
                <a:cs typeface="Helvetica Neue"/>
              </a:defRPr>
            </a:pPr>
            <a:r>
              <a:rPr sz="3300" b="1">
                <a:solidFill>
                  <a:srgbClr val="182B3A"/>
                </a:solidFill>
                <a:latin typeface="Helvetica Neue"/>
                <a:ea typeface="Helvetica Neue"/>
                <a:cs typeface="Helvetica Neue"/>
              </a:rPr>
              <a:t>Separate hardware</a:t>
            </a:r>
          </a:p>
        </p:txBody>
      </p:sp>
      <p:sp>
        <p:nvSpPr>
          <p:cNvPr id="2" name="">
            <a:extLst xmlns:a="http://schemas.openxmlformats.org/drawingml/2006/main">
              <a:ext uri="{FF2B5EF4-FFF2-40B4-BE49-F238E27FC236}">
                <a16:creationId xmlns:a16="http://schemas.microsoft.com/office/drawing/2014/main" id="{594F19EF-B069-4C90-A4CB-83FCEB597CB7}"/>
              </a:ext>
            </a:extLst>
          </p:cNvPr>
          <p:cNvSpPr>
            <a:spLocks xmlns:a="http://schemas.openxmlformats.org/drawingml/2006/main" noGrp="1"/>
          </p:cNvSpPr>
          <p:nvPr/>
        </p:nvSpPr>
        <p:spPr>
          <a:xfrm xmlns:a="http://schemas.openxmlformats.org/drawingml/2006/main">
            <a:off x="609600" y="63817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75"/>
                </a:solidFill>
                <a:latin typeface="Helvetica Neue"/>
                <a:ea typeface="Helvetica Neue"/>
                <a:cs typeface="Helvetica Neue"/>
              </a:defRPr>
            </a:pPr>
            <a:r>
              <a:rPr sz="1200" b="0">
                <a:solidFill>
                  <a:srgbClr val="566675"/>
                </a:solidFill>
                <a:latin typeface="Helvetica Neue"/>
                <a:ea typeface="Helvetica Neue"/>
                <a:cs typeface="Helvetica Neue"/>
              </a:rPr>
              <a:t>Session 3  /  Sandboxing</a:t>
            </a:r>
          </a:p>
        </p:txBody>
      </p:sp>
      <p:sp>
        <p:nvSpPr>
          <p:cNvPr id="3" name="">
            <a:extLst xmlns:a="http://schemas.openxmlformats.org/drawingml/2006/main">
              <a:ext uri="{FF2B5EF4-FFF2-40B4-BE49-F238E27FC236}">
                <a16:creationId xmlns:a16="http://schemas.microsoft.com/office/drawing/2014/main" id="{6921E02B-4B95-4F2C-A58A-3B7512F9161E}"/>
              </a:ext>
            </a:extLst>
          </p:cNvPr>
          <p:cNvSpPr>
            <a:spLocks xmlns:a="http://schemas.openxmlformats.org/drawingml/2006/main" noGrp="1"/>
          </p:cNvSpPr>
          <p:nvPr/>
        </p:nvSpPr>
        <p:spPr>
          <a:xfrm xmlns:a="http://schemas.openxmlformats.org/drawingml/2006/main">
            <a:off x="110109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75"/>
                </a:solidFill>
                <a:latin typeface="Helvetica Neue"/>
                <a:ea typeface="Helvetica Neue"/>
                <a:cs typeface="Helvetica Neue"/>
              </a:defRPr>
            </a:pPr>
            <a:r>
              <a:rPr sz="1200" b="0">
                <a:solidFill>
                  <a:srgbClr val="566675"/>
                </a:solidFill>
                <a:latin typeface="Helvetica Neue"/>
                <a:ea typeface="Helvetica Neue"/>
                <a:cs typeface="Helvetica Neue"/>
              </a:rPr>
              <a:t>17</a:t>
            </a:r>
          </a:p>
        </p:txBody>
      </p:sp>
      <p:sp>
        <p:nvSpPr>
          <p:cNvPr id="4" name="">
            <a:extLst xmlns:a="http://schemas.openxmlformats.org/drawingml/2006/main">
              <a:ext uri="{FF2B5EF4-FFF2-40B4-BE49-F238E27FC236}">
                <a16:creationId xmlns:a16="http://schemas.microsoft.com/office/drawing/2014/main" id="{4EB8DF9B-881B-4321-AF11-28D51A3390DC}"/>
              </a:ext>
            </a:extLst>
          </p:cNvPr>
          <p:cNvSpPr>
            <a:spLocks xmlns:a="http://schemas.openxmlformats.org/drawingml/2006/main" noGrp="1"/>
          </p:cNvSpPr>
          <p:nvPr/>
        </p:nvSpPr>
        <p:spPr>
          <a:xfrm xmlns:a="http://schemas.openxmlformats.org/drawingml/2006/main">
            <a:off x="609600" y="1752600"/>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Scope</a:t>
            </a:r>
          </a:p>
        </p:txBody>
      </p:sp>
      <p:sp>
        <p:nvSpPr>
          <p:cNvPr id="5" name="">
            <a:extLst xmlns:a="http://schemas.openxmlformats.org/drawingml/2006/main">
              <a:ext uri="{FF2B5EF4-FFF2-40B4-BE49-F238E27FC236}">
                <a16:creationId xmlns:a16="http://schemas.microsoft.com/office/drawing/2014/main" id="{C56FE842-3B17-4FAF-940B-C5961135636C}"/>
              </a:ext>
            </a:extLst>
          </p:cNvPr>
          <p:cNvSpPr>
            <a:spLocks xmlns:a="http://schemas.openxmlformats.org/drawingml/2006/main" noGrp="1"/>
          </p:cNvSpPr>
          <p:nvPr/>
        </p:nvSpPr>
        <p:spPr>
          <a:xfrm xmlns:a="http://schemas.openxmlformats.org/drawingml/2006/main">
            <a:off x="3276600" y="1752600"/>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A dedicated machine for agent-driven development.</a:t>
            </a:r>
          </a:p>
        </p:txBody>
      </p:sp>
      <p:sp>
        <p:nvSpPr>
          <p:cNvPr id="6" name="">
            <a:extLst xmlns:a="http://schemas.openxmlformats.org/drawingml/2006/main">
              <a:ext uri="{FF2B5EF4-FFF2-40B4-BE49-F238E27FC236}">
                <a16:creationId xmlns:a16="http://schemas.microsoft.com/office/drawing/2014/main" id="{C0701901-A198-47DC-91AC-4F1DCA8BE81E}"/>
              </a:ext>
            </a:extLst>
          </p:cNvPr>
          <p:cNvSpPr>
            <a:spLocks xmlns:a="http://schemas.openxmlformats.org/drawingml/2006/main" noGrp="1"/>
          </p:cNvSpPr>
          <p:nvPr/>
        </p:nvSpPr>
        <p:spPr>
          <a:xfrm xmlns:a="http://schemas.openxmlformats.org/drawingml/2006/main">
            <a:off x="609600" y="2781300"/>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Good fit</a:t>
            </a:r>
          </a:p>
        </p:txBody>
      </p:sp>
      <p:sp>
        <p:nvSpPr>
          <p:cNvPr id="7" name="">
            <a:extLst xmlns:a="http://schemas.openxmlformats.org/drawingml/2006/main">
              <a:ext uri="{FF2B5EF4-FFF2-40B4-BE49-F238E27FC236}">
                <a16:creationId xmlns:a16="http://schemas.microsoft.com/office/drawing/2014/main" id="{EC7BB1B4-A310-464B-83D7-CDB05C5B44D6}"/>
              </a:ext>
            </a:extLst>
          </p:cNvPr>
          <p:cNvSpPr>
            <a:spLocks xmlns:a="http://schemas.openxmlformats.org/drawingml/2006/main" noGrp="1"/>
          </p:cNvSpPr>
          <p:nvPr/>
        </p:nvSpPr>
        <p:spPr>
          <a:xfrm xmlns:a="http://schemas.openxmlformats.org/drawingml/2006/main">
            <a:off x="3276600" y="2781300"/>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Workloads that must stay away from the daily workstation.</a:t>
            </a:r>
          </a:p>
        </p:txBody>
      </p:sp>
      <p:sp>
        <p:nvSpPr>
          <p:cNvPr id="8" name="">
            <a:extLst xmlns:a="http://schemas.openxmlformats.org/drawingml/2006/main">
              <a:ext uri="{FF2B5EF4-FFF2-40B4-BE49-F238E27FC236}">
                <a16:creationId xmlns:a16="http://schemas.microsoft.com/office/drawing/2014/main" id="{63E656C0-6E73-4254-8257-8FC265D6AD58}"/>
              </a:ext>
            </a:extLst>
          </p:cNvPr>
          <p:cNvSpPr>
            <a:spLocks xmlns:a="http://schemas.openxmlformats.org/drawingml/2006/main" noGrp="1"/>
          </p:cNvSpPr>
          <p:nvPr/>
        </p:nvSpPr>
        <p:spPr>
          <a:xfrm xmlns:a="http://schemas.openxmlformats.org/drawingml/2006/main">
            <a:off x="609600" y="3810000"/>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Baseline</a:t>
            </a:r>
          </a:p>
        </p:txBody>
      </p:sp>
      <p:sp>
        <p:nvSpPr>
          <p:cNvPr id="9" name="">
            <a:extLst xmlns:a="http://schemas.openxmlformats.org/drawingml/2006/main">
              <a:ext uri="{FF2B5EF4-FFF2-40B4-BE49-F238E27FC236}">
                <a16:creationId xmlns:a16="http://schemas.microsoft.com/office/drawing/2014/main" id="{FC37443D-C8F8-40D3-A6AC-CD05ADA5964D}"/>
              </a:ext>
            </a:extLst>
          </p:cNvPr>
          <p:cNvSpPr>
            <a:spLocks xmlns:a="http://schemas.openxmlformats.org/drawingml/2006/main" noGrp="1"/>
          </p:cNvSpPr>
          <p:nvPr/>
        </p:nvSpPr>
        <p:spPr>
          <a:xfrm xmlns:a="http://schemas.openxmlformats.org/drawingml/2006/main">
            <a:off x="3276600" y="3810000"/>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Separate identity, minimal data, segmented network and reimaging.</a:t>
            </a:r>
          </a:p>
        </p:txBody>
      </p:sp>
      <p:sp>
        <p:nvSpPr>
          <p:cNvPr id="10" name="">
            <a:extLst xmlns:a="http://schemas.openxmlformats.org/drawingml/2006/main">
              <a:ext uri="{FF2B5EF4-FFF2-40B4-BE49-F238E27FC236}">
                <a16:creationId xmlns:a16="http://schemas.microsoft.com/office/drawing/2014/main" id="{9FB05838-E244-424D-A0F6-A8D5FC452614}"/>
              </a:ext>
            </a:extLst>
          </p:cNvPr>
          <p:cNvSpPr>
            <a:spLocks xmlns:a="http://schemas.openxmlformats.org/drawingml/2006/main" noGrp="1"/>
          </p:cNvSpPr>
          <p:nvPr/>
        </p:nvSpPr>
        <p:spPr>
          <a:xfrm xmlns:a="http://schemas.openxmlformats.org/drawingml/2006/main">
            <a:off x="609600" y="4838700"/>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Trade-off</a:t>
            </a:r>
          </a:p>
        </p:txBody>
      </p:sp>
      <p:sp>
        <p:nvSpPr>
          <p:cNvPr id="11" name="">
            <a:extLst xmlns:a="http://schemas.openxmlformats.org/drawingml/2006/main">
              <a:ext uri="{FF2B5EF4-FFF2-40B4-BE49-F238E27FC236}">
                <a16:creationId xmlns:a16="http://schemas.microsoft.com/office/drawing/2014/main" id="{19854919-AB98-4700-960F-272773DBAE64}"/>
              </a:ext>
            </a:extLst>
          </p:cNvPr>
          <p:cNvSpPr>
            <a:spLocks xmlns:a="http://schemas.openxmlformats.org/drawingml/2006/main" noGrp="1"/>
          </p:cNvSpPr>
          <p:nvPr/>
        </p:nvSpPr>
        <p:spPr>
          <a:xfrm xmlns:a="http://schemas.openxmlformats.org/drawingml/2006/main">
            <a:off x="3276600" y="4838700"/>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Hardware and administration costs. Network access still matters.</a:t>
            </a:r>
          </a:p>
        </p:txBody>
      </p:sp>
    </p:spTree>
    <p:extLst>
      <p:ext uri="{BB962C8B-B14F-4D97-AF65-F5344CB8AC3E}">
        <p14:creationId xmlns:p14="http://schemas.microsoft.com/office/powerpoint/2010/main" val="149464148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C69EFA8-A98F-4C5F-8F6C-9AE44DBC8A94}"/>
              </a:ext>
            </a:extLst>
          </p:cNvPr>
          <p:cNvSpPr>
            <a:spLocks xmlns:a="http://schemas.openxmlformats.org/drawingml/2006/main" noGrp="1"/>
          </p:cNvSpPr>
          <p:nvPr/>
        </p:nvSpPr>
        <p:spPr>
          <a:xfrm xmlns:a="http://schemas.openxmlformats.org/drawingml/2006/main">
            <a:off x="609600" y="457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2B3A"/>
                </a:solidFill>
                <a:latin typeface="Helvetica Neue"/>
                <a:ea typeface="Helvetica Neue"/>
                <a:cs typeface="Helvetica Neue"/>
              </a:defRPr>
            </a:pPr>
            <a:r>
              <a:rPr sz="3300" b="1">
                <a:solidFill>
                  <a:srgbClr val="182B3A"/>
                </a:solidFill>
                <a:latin typeface="Helvetica Neue"/>
                <a:ea typeface="Helvetica Neue"/>
                <a:cs typeface="Helvetica Neue"/>
              </a:rPr>
              <a:t>Choosing the outer environment</a:t>
            </a:r>
          </a:p>
        </p:txBody>
      </p:sp>
      <p:sp>
        <p:nvSpPr>
          <p:cNvPr id="2" name="">
            <a:extLst xmlns:a="http://schemas.openxmlformats.org/drawingml/2006/main">
              <a:ext uri="{FF2B5EF4-FFF2-40B4-BE49-F238E27FC236}">
                <a16:creationId xmlns:a16="http://schemas.microsoft.com/office/drawing/2014/main" id="{93DA73B0-A26C-4E47-AA5D-2E0E2199E551}"/>
              </a:ext>
            </a:extLst>
          </p:cNvPr>
          <p:cNvSpPr>
            <a:spLocks xmlns:a="http://schemas.openxmlformats.org/drawingml/2006/main" noGrp="1"/>
          </p:cNvSpPr>
          <p:nvPr/>
        </p:nvSpPr>
        <p:spPr>
          <a:xfrm xmlns:a="http://schemas.openxmlformats.org/drawingml/2006/main">
            <a:off x="609600" y="63817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75"/>
                </a:solidFill>
                <a:latin typeface="Helvetica Neue"/>
                <a:ea typeface="Helvetica Neue"/>
                <a:cs typeface="Helvetica Neue"/>
              </a:defRPr>
            </a:pPr>
            <a:r>
              <a:rPr sz="1200" b="0">
                <a:solidFill>
                  <a:srgbClr val="566675"/>
                </a:solidFill>
                <a:latin typeface="Helvetica Neue"/>
                <a:ea typeface="Helvetica Neue"/>
                <a:cs typeface="Helvetica Neue"/>
              </a:rPr>
              <a:t>Session 3  /  Sandboxing</a:t>
            </a:r>
          </a:p>
        </p:txBody>
      </p:sp>
      <p:sp>
        <p:nvSpPr>
          <p:cNvPr id="3" name="">
            <a:extLst xmlns:a="http://schemas.openxmlformats.org/drawingml/2006/main">
              <a:ext uri="{FF2B5EF4-FFF2-40B4-BE49-F238E27FC236}">
                <a16:creationId xmlns:a16="http://schemas.microsoft.com/office/drawing/2014/main" id="{17549A09-0B5F-4ABE-A075-ED752DC3FC3B}"/>
              </a:ext>
            </a:extLst>
          </p:cNvPr>
          <p:cNvSpPr>
            <a:spLocks xmlns:a="http://schemas.openxmlformats.org/drawingml/2006/main" noGrp="1"/>
          </p:cNvSpPr>
          <p:nvPr/>
        </p:nvSpPr>
        <p:spPr>
          <a:xfrm xmlns:a="http://schemas.openxmlformats.org/drawingml/2006/main">
            <a:off x="110109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75"/>
                </a:solidFill>
                <a:latin typeface="Helvetica Neue"/>
                <a:ea typeface="Helvetica Neue"/>
                <a:cs typeface="Helvetica Neue"/>
              </a:defRPr>
            </a:pPr>
            <a:r>
              <a:rPr sz="1200" b="0">
                <a:solidFill>
                  <a:srgbClr val="566675"/>
                </a:solidFill>
                <a:latin typeface="Helvetica Neue"/>
                <a:ea typeface="Helvetica Neue"/>
                <a:cs typeface="Helvetica Neue"/>
              </a:rPr>
              <a:t>18</a:t>
            </a:r>
          </a:p>
        </p:txBody>
      </p:sp>
      <p:graphicFrame>
        <p:nvGraphicFramePr>
          <p:cNvPr id="9" name=""/>
          <p:cNvGraphicFramePr/>
          <p:nvPr/>
        </p:nvGraphicFramePr>
        <p:xfrm>
          <a:off xmlns:a="http://schemas.openxmlformats.org/drawingml/2006/main" x="609600" y="1752600"/>
          <a:ext xmlns:a="http://schemas.openxmlformats.org/drawingml/2006/main" cx="10972800" cy="3238500"/>
        </p:xfrm>
        <a:graphic xmlns:a="http://schemas.openxmlformats.org/drawingml/2006/main">
          <a:graphicData uri="http://schemas.openxmlformats.org/drawingml/2006/table">
            <a:tbl>
              <a:tblPr/>
              <a:tblGrid>
                <a:gridCol w="2286000"/>
                <a:gridCol w="3028950"/>
                <a:gridCol w="3000375"/>
                <a:gridCol w="2657475"/>
              </a:tblGrid>
              <a:tr h="809625">
                <a:tc>
                  <a:txBody>
                    <a:bodyPr/>
                    <a:lstStyle/>
                    <a:p>
                      <a:r>
                        <a:rPr sz="1875" b="1">
                          <a:solidFill>
                            <a:srgbClr val="182B3A"/>
                          </a:solidFill>
                          <a:latin typeface="Helvetica Neue"/>
                          <a:ea typeface="Helvetica Neue"/>
                          <a:cs typeface="Helvetica Neue"/>
                        </a:rPr>
                        <a:t>Approach</a:t>
                      </a:r>
                    </a:p>
                  </a:txBody>
                  <a:tcPr marL="91440" marR="91440" marT="45720" marB="45720">
                    <a:solidFill>
                      <a:srgbClr val="EAF1F3"/>
                    </a:solidFill>
                  </a:tcPr>
                </a:tc>
                <a:tc>
                  <a:txBody>
                    <a:bodyPr/>
                    <a:lstStyle/>
                    <a:p>
                      <a:r>
                        <a:rPr sz="1875" b="1">
                          <a:solidFill>
                            <a:srgbClr val="182B3A"/>
                          </a:solidFill>
                          <a:latin typeface="Helvetica Neue"/>
                          <a:ea typeface="Helvetica Neue"/>
                          <a:cs typeface="Helvetica Neue"/>
                        </a:rPr>
                        <a:t>Boundary</a:t>
                      </a:r>
                    </a:p>
                  </a:txBody>
                  <a:tcPr marL="91440" marR="91440" marT="45720" marB="45720">
                    <a:solidFill>
                      <a:srgbClr val="EAF1F3"/>
                    </a:solidFill>
                  </a:tcPr>
                </a:tc>
                <a:tc>
                  <a:txBody>
                    <a:bodyPr/>
                    <a:lstStyle/>
                    <a:p>
                      <a:r>
                        <a:rPr sz="1875" b="1">
                          <a:solidFill>
                            <a:srgbClr val="182B3A"/>
                          </a:solidFill>
                          <a:latin typeface="Helvetica Neue"/>
                          <a:ea typeface="Helvetica Neue"/>
                          <a:cs typeface="Helvetica Neue"/>
                        </a:rPr>
                        <a:t>Typical fit</a:t>
                      </a:r>
                    </a:p>
                  </a:txBody>
                  <a:tcPr marL="91440" marR="91440" marT="45720" marB="45720">
                    <a:solidFill>
                      <a:srgbClr val="EAF1F3"/>
                    </a:solidFill>
                  </a:tcPr>
                </a:tc>
                <a:tc>
                  <a:txBody>
                    <a:bodyPr/>
                    <a:lstStyle/>
                    <a:p>
                      <a:r>
                        <a:rPr sz="1875" b="1">
                          <a:solidFill>
                            <a:srgbClr val="182B3A"/>
                          </a:solidFill>
                          <a:latin typeface="Helvetica Neue"/>
                          <a:ea typeface="Helvetica Neue"/>
                          <a:cs typeface="Helvetica Neue"/>
                        </a:rPr>
                        <a:t>Main cost</a:t>
                      </a:r>
                    </a:p>
                  </a:txBody>
                  <a:tcPr marL="91440" marR="91440" marT="45720" marB="45720">
                    <a:solidFill>
                      <a:srgbClr val="EAF1F3"/>
                    </a:solidFill>
                  </a:tcPr>
                </a:tc>
              </a:tr>
              <a:tr h="809625">
                <a:tc>
                  <a:txBody>
                    <a:bodyPr/>
                    <a:lstStyle/>
                    <a:p>
                      <a:r>
                        <a:rPr sz="1875" b="0">
                          <a:solidFill>
                            <a:srgbClr val="182B3A"/>
                          </a:solidFill>
                          <a:latin typeface="Helvetica Neue"/>
                          <a:ea typeface="Helvetica Neue"/>
                          <a:cs typeface="Helvetica Neue"/>
                        </a:rPr>
                        <a:t>Container</a:t>
                      </a:r>
                    </a:p>
                  </a:txBody>
                  <a:tcPr marL="91440" marR="91440" marT="45720" marB="45720">
                    <a:solidFill>
                      <a:srgbClr val="FFFFFF"/>
                    </a:solidFill>
                  </a:tcPr>
                </a:tc>
                <a:tc>
                  <a:txBody>
                    <a:bodyPr/>
                    <a:lstStyle/>
                    <a:p>
                      <a:r>
                        <a:rPr sz="1875" b="0">
                          <a:solidFill>
                            <a:srgbClr val="182B3A"/>
                          </a:solidFill>
                          <a:latin typeface="Helvetica Neue"/>
                          <a:ea typeface="Helvetica Neue"/>
                          <a:cs typeface="Helvetica Neue"/>
                        </a:rPr>
                        <a:t>Processes; shared kernel</a:t>
                      </a:r>
                    </a:p>
                  </a:txBody>
                  <a:tcPr marL="91440" marR="91440" marT="45720" marB="45720">
                    <a:solidFill>
                      <a:srgbClr val="FFFFFF"/>
                    </a:solidFill>
                  </a:tcPr>
                </a:tc>
                <a:tc>
                  <a:txBody>
                    <a:bodyPr/>
                    <a:lstStyle/>
                    <a:p>
                      <a:r>
                        <a:rPr sz="1875" b="0">
                          <a:solidFill>
                            <a:srgbClr val="182B3A"/>
                          </a:solidFill>
                          <a:latin typeface="Helvetica Neue"/>
                          <a:ea typeface="Helvetica Neue"/>
                          <a:cs typeface="Helvetica Neue"/>
                        </a:rPr>
                        <a:t>Trusted team projects</a:t>
                      </a:r>
                    </a:p>
                  </a:txBody>
                  <a:tcPr marL="91440" marR="91440" marT="45720" marB="45720">
                    <a:solidFill>
                      <a:srgbClr val="FFFFFF"/>
                    </a:solidFill>
                  </a:tcPr>
                </a:tc>
                <a:tc>
                  <a:txBody>
                    <a:bodyPr/>
                    <a:lstStyle/>
                    <a:p>
                      <a:r>
                        <a:rPr sz="1875" b="0">
                          <a:solidFill>
                            <a:srgbClr val="182B3A"/>
                          </a:solidFill>
                          <a:latin typeface="Helvetica Neue"/>
                          <a:ea typeface="Helvetica Neue"/>
                          <a:cs typeface="Helvetica Neue"/>
                        </a:rPr>
                        <a:t>Hardening / image upkeep</a:t>
                      </a:r>
                    </a:p>
                  </a:txBody>
                  <a:tcPr marL="91440" marR="91440" marT="45720" marB="45720">
                    <a:solidFill>
                      <a:srgbClr val="FFFFFF"/>
                    </a:solidFill>
                  </a:tcPr>
                </a:tc>
              </a:tr>
              <a:tr h="809625">
                <a:tc>
                  <a:txBody>
                    <a:bodyPr/>
                    <a:lstStyle/>
                    <a:p>
                      <a:r>
                        <a:rPr sz="1875" b="0">
                          <a:solidFill>
                            <a:srgbClr val="182B3A"/>
                          </a:solidFill>
                          <a:latin typeface="Helvetica Neue"/>
                          <a:ea typeface="Helvetica Neue"/>
                          <a:cs typeface="Helvetica Neue"/>
                        </a:rPr>
                        <a:t>VM</a:t>
                      </a:r>
                    </a:p>
                  </a:txBody>
                  <a:tcPr marL="91440" marR="91440" marT="45720" marB="45720">
                    <a:solidFill>
                      <a:srgbClr val="FFFFFF"/>
                    </a:solidFill>
                  </a:tcPr>
                </a:tc>
                <a:tc>
                  <a:txBody>
                    <a:bodyPr/>
                    <a:lstStyle/>
                    <a:p>
                      <a:r>
                        <a:rPr sz="1875" b="0">
                          <a:solidFill>
                            <a:srgbClr val="182B3A"/>
                          </a:solidFill>
                          <a:latin typeface="Helvetica Neue"/>
                          <a:ea typeface="Helvetica Neue"/>
                          <a:cs typeface="Helvetica Neue"/>
                        </a:rPr>
                        <a:t>Guest OS and kernel</a:t>
                      </a:r>
                    </a:p>
                  </a:txBody>
                  <a:tcPr marL="91440" marR="91440" marT="45720" marB="45720">
                    <a:solidFill>
                      <a:srgbClr val="FFFFFF"/>
                    </a:solidFill>
                  </a:tcPr>
                </a:tc>
                <a:tc>
                  <a:txBody>
                    <a:bodyPr/>
                    <a:lstStyle/>
                    <a:p>
                      <a:r>
                        <a:rPr sz="1875" b="0">
                          <a:solidFill>
                            <a:srgbClr val="182B3A"/>
                          </a:solidFill>
                          <a:latin typeface="Helvetica Neue"/>
                          <a:ea typeface="Helvetica Neue"/>
                          <a:cs typeface="Helvetica Neue"/>
                        </a:rPr>
                        <a:t>Unfamiliar code</a:t>
                      </a:r>
                    </a:p>
                  </a:txBody>
                  <a:tcPr marL="91440" marR="91440" marT="45720" marB="45720">
                    <a:solidFill>
                      <a:srgbClr val="FFFFFF"/>
                    </a:solidFill>
                  </a:tcPr>
                </a:tc>
                <a:tc>
                  <a:txBody>
                    <a:bodyPr/>
                    <a:lstStyle/>
                    <a:p>
                      <a:r>
                        <a:rPr sz="1875" b="0">
                          <a:solidFill>
                            <a:srgbClr val="182B3A"/>
                          </a:solidFill>
                          <a:latin typeface="Helvetica Neue"/>
                          <a:ea typeface="Helvetica Neue"/>
                          <a:cs typeface="Helvetica Neue"/>
                        </a:rPr>
                        <a:t>Resources / guest upkeep</a:t>
                      </a:r>
                    </a:p>
                  </a:txBody>
                  <a:tcPr marL="91440" marR="91440" marT="45720" marB="45720">
                    <a:solidFill>
                      <a:srgbClr val="FFFFFF"/>
                    </a:solidFill>
                  </a:tcPr>
                </a:tc>
              </a:tr>
              <a:tr h="809625">
                <a:tc>
                  <a:txBody>
                    <a:bodyPr/>
                    <a:lstStyle/>
                    <a:p>
                      <a:r>
                        <a:rPr sz="1875" b="0">
                          <a:solidFill>
                            <a:srgbClr val="182B3A"/>
                          </a:solidFill>
                          <a:latin typeface="Helvetica Neue"/>
                          <a:ea typeface="Helvetica Neue"/>
                          <a:cs typeface="Helvetica Neue"/>
                        </a:rPr>
                        <a:t>Separate hardware</a:t>
                      </a:r>
                    </a:p>
                  </a:txBody>
                  <a:tcPr marL="91440" marR="91440" marT="45720" marB="45720">
                    <a:solidFill>
                      <a:srgbClr val="FFFFFF"/>
                    </a:solidFill>
                  </a:tcPr>
                </a:tc>
                <a:tc>
                  <a:txBody>
                    <a:bodyPr/>
                    <a:lstStyle/>
                    <a:p>
                      <a:r>
                        <a:rPr sz="1875" b="0">
                          <a:solidFill>
                            <a:srgbClr val="182B3A"/>
                          </a:solidFill>
                          <a:latin typeface="Helvetica Neue"/>
                          <a:ea typeface="Helvetica Neue"/>
                          <a:cs typeface="Helvetica Neue"/>
                        </a:rPr>
                        <a:t>Dedicated machine</a:t>
                      </a:r>
                    </a:p>
                  </a:txBody>
                  <a:tcPr marL="91440" marR="91440" marT="45720" marB="45720">
                    <a:solidFill>
                      <a:srgbClr val="FFFFFF"/>
                    </a:solidFill>
                  </a:tcPr>
                </a:tc>
                <a:tc>
                  <a:txBody>
                    <a:bodyPr/>
                    <a:lstStyle/>
                    <a:p>
                      <a:r>
                        <a:rPr sz="1875" b="0">
                          <a:solidFill>
                            <a:srgbClr val="182B3A"/>
                          </a:solidFill>
                          <a:latin typeface="Helvetica Neue"/>
                          <a:ea typeface="Helvetica Neue"/>
                          <a:cs typeface="Helvetica Neue"/>
                        </a:rPr>
                        <a:t>Workstation separation</a:t>
                      </a:r>
                    </a:p>
                  </a:txBody>
                  <a:tcPr marL="91440" marR="91440" marT="45720" marB="45720">
                    <a:solidFill>
                      <a:srgbClr val="FFFFFF"/>
                    </a:solidFill>
                  </a:tcPr>
                </a:tc>
                <a:tc>
                  <a:txBody>
                    <a:bodyPr/>
                    <a:lstStyle/>
                    <a:p>
                      <a:r>
                        <a:rPr sz="1875" b="0">
                          <a:solidFill>
                            <a:srgbClr val="182B3A"/>
                          </a:solidFill>
                          <a:latin typeface="Helvetica Neue"/>
                          <a:ea typeface="Helvetica Neue"/>
                          <a:cs typeface="Helvetica Neue"/>
                        </a:rPr>
                        <a:t>Devices / operations</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199724CA-BC40-4C79-B672-872B05B98671}"/>
              </a:ext>
            </a:extLst>
          </p:cNvPr>
          <p:cNvSpPr>
            <a:spLocks xmlns:a="http://schemas.openxmlformats.org/drawingml/2006/main" noGrp="1"/>
          </p:cNvSpPr>
          <p:nvPr/>
        </p:nvSpPr>
        <p:spPr>
          <a:xfrm xmlns:a="http://schemas.openxmlformats.org/drawingml/2006/main">
            <a:off x="609600" y="535305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6D77"/>
                </a:solidFill>
                <a:latin typeface="Helvetica Neue"/>
                <a:ea typeface="Helvetica Neue"/>
                <a:cs typeface="Helvetica Neue"/>
              </a:defRPr>
            </a:pPr>
            <a:r>
              <a:rPr sz="2175" b="1">
                <a:solidFill>
                  <a:srgbClr val="126D77"/>
                </a:solidFill>
                <a:latin typeface="Helvetica Neue"/>
                <a:ea typeface="Helvetica Neue"/>
                <a:cs typeface="Helvetica Neue"/>
              </a:rPr>
              <a:t>All three can host multiple coding tools. All three need an access policy.</a:t>
            </a:r>
          </a:p>
        </p:txBody>
      </p:sp>
    </p:spTree>
    <p:extLst>
      <p:ext uri="{BB962C8B-B14F-4D97-AF65-F5344CB8AC3E}">
        <p14:creationId xmlns:p14="http://schemas.microsoft.com/office/powerpoint/2010/main" val="133585942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BBCEA95-1CA1-428A-981F-5E1C385040E0}"/>
              </a:ext>
            </a:extLst>
          </p:cNvPr>
          <p:cNvSpPr>
            <a:spLocks xmlns:a="http://schemas.openxmlformats.org/drawingml/2006/main" noGrp="1"/>
          </p:cNvSpPr>
          <p:nvPr/>
        </p:nvSpPr>
        <p:spPr>
          <a:xfrm xmlns:a="http://schemas.openxmlformats.org/drawingml/2006/main">
            <a:off x="609600" y="457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2B3A"/>
                </a:solidFill>
                <a:latin typeface="Helvetica Neue"/>
                <a:ea typeface="Helvetica Neue"/>
                <a:cs typeface="Helvetica Neue"/>
              </a:defRPr>
            </a:pPr>
            <a:r>
              <a:rPr sz="3300" b="1">
                <a:solidFill>
                  <a:srgbClr val="182B3A"/>
                </a:solidFill>
                <a:latin typeface="Helvetica Neue"/>
                <a:ea typeface="Helvetica Neue"/>
                <a:cs typeface="Helvetica Neue"/>
              </a:rPr>
              <a:t>A baseline for a mixed-tool team</a:t>
            </a:r>
          </a:p>
        </p:txBody>
      </p:sp>
      <p:sp>
        <p:nvSpPr>
          <p:cNvPr id="2" name="">
            <a:extLst xmlns:a="http://schemas.openxmlformats.org/drawingml/2006/main">
              <a:ext uri="{FF2B5EF4-FFF2-40B4-BE49-F238E27FC236}">
                <a16:creationId xmlns:a16="http://schemas.microsoft.com/office/drawing/2014/main" id="{F8176BA6-B923-4FF9-ADF0-65AE95913767}"/>
              </a:ext>
            </a:extLst>
          </p:cNvPr>
          <p:cNvSpPr>
            <a:spLocks xmlns:a="http://schemas.openxmlformats.org/drawingml/2006/main" noGrp="1"/>
          </p:cNvSpPr>
          <p:nvPr/>
        </p:nvSpPr>
        <p:spPr>
          <a:xfrm xmlns:a="http://schemas.openxmlformats.org/drawingml/2006/main">
            <a:off x="609600" y="63817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75"/>
                </a:solidFill>
                <a:latin typeface="Helvetica Neue"/>
                <a:ea typeface="Helvetica Neue"/>
                <a:cs typeface="Helvetica Neue"/>
              </a:defRPr>
            </a:pPr>
            <a:r>
              <a:rPr sz="1200" b="0">
                <a:solidFill>
                  <a:srgbClr val="566675"/>
                </a:solidFill>
                <a:latin typeface="Helvetica Neue"/>
                <a:ea typeface="Helvetica Neue"/>
                <a:cs typeface="Helvetica Neue"/>
              </a:rPr>
              <a:t>Session 3  /  Sandboxing</a:t>
            </a:r>
          </a:p>
        </p:txBody>
      </p:sp>
      <p:sp>
        <p:nvSpPr>
          <p:cNvPr id="3" name="">
            <a:extLst xmlns:a="http://schemas.openxmlformats.org/drawingml/2006/main">
              <a:ext uri="{FF2B5EF4-FFF2-40B4-BE49-F238E27FC236}">
                <a16:creationId xmlns:a16="http://schemas.microsoft.com/office/drawing/2014/main" id="{5EF24DC5-1D06-4E9B-B187-AFA8B6A1835E}"/>
              </a:ext>
            </a:extLst>
          </p:cNvPr>
          <p:cNvSpPr>
            <a:spLocks xmlns:a="http://schemas.openxmlformats.org/drawingml/2006/main" noGrp="1"/>
          </p:cNvSpPr>
          <p:nvPr/>
        </p:nvSpPr>
        <p:spPr>
          <a:xfrm xmlns:a="http://schemas.openxmlformats.org/drawingml/2006/main">
            <a:off x="110109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75"/>
                </a:solidFill>
                <a:latin typeface="Helvetica Neue"/>
                <a:ea typeface="Helvetica Neue"/>
                <a:cs typeface="Helvetica Neue"/>
              </a:defRPr>
            </a:pPr>
            <a:r>
              <a:rPr sz="1200" b="0">
                <a:solidFill>
                  <a:srgbClr val="566675"/>
                </a:solidFill>
                <a:latin typeface="Helvetica Neue"/>
                <a:ea typeface="Helvetica Neue"/>
                <a:cs typeface="Helvetica Neue"/>
              </a:rPr>
              <a:t>19</a:t>
            </a:r>
          </a:p>
        </p:txBody>
      </p:sp>
      <p:sp>
        <p:nvSpPr>
          <p:cNvPr id="4" name="">
            <a:extLst xmlns:a="http://schemas.openxmlformats.org/drawingml/2006/main">
              <a:ext uri="{FF2B5EF4-FFF2-40B4-BE49-F238E27FC236}">
                <a16:creationId xmlns:a16="http://schemas.microsoft.com/office/drawing/2014/main" id="{37B4AF78-018B-4279-8BAC-703E974983DA}"/>
              </a:ext>
            </a:extLst>
          </p:cNvPr>
          <p:cNvSpPr>
            <a:spLocks xmlns:a="http://schemas.openxmlformats.org/drawingml/2006/main" noGrp="1"/>
          </p:cNvSpPr>
          <p:nvPr/>
        </p:nvSpPr>
        <p:spPr>
          <a:xfrm xmlns:a="http://schemas.openxmlformats.org/drawingml/2006/main">
            <a:off x="609600" y="1752600"/>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Inside</a:t>
            </a:r>
          </a:p>
        </p:txBody>
      </p:sp>
      <p:sp>
        <p:nvSpPr>
          <p:cNvPr id="5" name="">
            <a:extLst xmlns:a="http://schemas.openxmlformats.org/drawingml/2006/main">
              <a:ext uri="{FF2B5EF4-FFF2-40B4-BE49-F238E27FC236}">
                <a16:creationId xmlns:a16="http://schemas.microsoft.com/office/drawing/2014/main" id="{CA91F59A-69D1-4C66-B0C1-9EF59D97511C}"/>
              </a:ext>
            </a:extLst>
          </p:cNvPr>
          <p:cNvSpPr>
            <a:spLocks xmlns:a="http://schemas.openxmlformats.org/drawingml/2006/main" noGrp="1"/>
          </p:cNvSpPr>
          <p:nvPr/>
        </p:nvSpPr>
        <p:spPr>
          <a:xfrm xmlns:a="http://schemas.openxmlformats.org/drawingml/2006/main">
            <a:off x="3276600" y="1752600"/>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Approved coding tools, builds, tests and local MCP helpers.</a:t>
            </a:r>
          </a:p>
        </p:txBody>
      </p:sp>
      <p:sp>
        <p:nvSpPr>
          <p:cNvPr id="6" name="">
            <a:extLst xmlns:a="http://schemas.openxmlformats.org/drawingml/2006/main">
              <a:ext uri="{FF2B5EF4-FFF2-40B4-BE49-F238E27FC236}">
                <a16:creationId xmlns:a16="http://schemas.microsoft.com/office/drawing/2014/main" id="{4522F024-D1D8-4988-85B1-E6D24A2FA7A4}"/>
              </a:ext>
            </a:extLst>
          </p:cNvPr>
          <p:cNvSpPr>
            <a:spLocks xmlns:a="http://schemas.openxmlformats.org/drawingml/2006/main" noGrp="1"/>
          </p:cNvSpPr>
          <p:nvPr/>
        </p:nvSpPr>
        <p:spPr>
          <a:xfrm xmlns:a="http://schemas.openxmlformats.org/drawingml/2006/main">
            <a:off x="609600" y="2781300"/>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At the boundary</a:t>
            </a:r>
          </a:p>
        </p:txBody>
      </p:sp>
      <p:sp>
        <p:nvSpPr>
          <p:cNvPr id="7" name="">
            <a:extLst xmlns:a="http://schemas.openxmlformats.org/drawingml/2006/main">
              <a:ext uri="{FF2B5EF4-FFF2-40B4-BE49-F238E27FC236}">
                <a16:creationId xmlns:a16="http://schemas.microsoft.com/office/drawing/2014/main" id="{7B39F618-A877-4778-A0D3-4C9C776C7901}"/>
              </a:ext>
            </a:extLst>
          </p:cNvPr>
          <p:cNvSpPr>
            <a:spLocks xmlns:a="http://schemas.openxmlformats.org/drawingml/2006/main" noGrp="1"/>
          </p:cNvSpPr>
          <p:nvPr/>
        </p:nvSpPr>
        <p:spPr>
          <a:xfrm xmlns:a="http://schemas.openxmlformats.org/drawingml/2006/main">
            <a:off x="3276600" y="2781300"/>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Project-only storage, controlled egress, scoped identity.</a:t>
            </a:r>
          </a:p>
        </p:txBody>
      </p:sp>
      <p:sp>
        <p:nvSpPr>
          <p:cNvPr id="8" name="">
            <a:extLst xmlns:a="http://schemas.openxmlformats.org/drawingml/2006/main">
              <a:ext uri="{FF2B5EF4-FFF2-40B4-BE49-F238E27FC236}">
                <a16:creationId xmlns:a16="http://schemas.microsoft.com/office/drawing/2014/main" id="{9CD89E56-D85F-42FD-805A-06A9B43FFED4}"/>
              </a:ext>
            </a:extLst>
          </p:cNvPr>
          <p:cNvSpPr>
            <a:spLocks xmlns:a="http://schemas.openxmlformats.org/drawingml/2006/main" noGrp="1"/>
          </p:cNvSpPr>
          <p:nvPr/>
        </p:nvSpPr>
        <p:spPr>
          <a:xfrm xmlns:a="http://schemas.openxmlformats.org/drawingml/2006/main">
            <a:off x="609600" y="3810000"/>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Outside</a:t>
            </a:r>
          </a:p>
        </p:txBody>
      </p:sp>
      <p:sp>
        <p:nvSpPr>
          <p:cNvPr id="9" name="">
            <a:extLst xmlns:a="http://schemas.openxmlformats.org/drawingml/2006/main">
              <a:ext uri="{FF2B5EF4-FFF2-40B4-BE49-F238E27FC236}">
                <a16:creationId xmlns:a16="http://schemas.microsoft.com/office/drawing/2014/main" id="{2154C69F-1935-421F-869F-438020144412}"/>
              </a:ext>
            </a:extLst>
          </p:cNvPr>
          <p:cNvSpPr>
            <a:spLocks xmlns:a="http://schemas.openxmlformats.org/drawingml/2006/main" noGrp="1"/>
          </p:cNvSpPr>
          <p:nvPr/>
        </p:nvSpPr>
        <p:spPr>
          <a:xfrm xmlns:a="http://schemas.openxmlformats.org/drawingml/2006/main">
            <a:off x="3276600" y="3810000"/>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Personal secrets, broad host access and production deployment rights.</a:t>
            </a:r>
          </a:p>
        </p:txBody>
      </p:sp>
      <p:sp>
        <p:nvSpPr>
          <p:cNvPr id="10" name="">
            <a:extLst xmlns:a="http://schemas.openxmlformats.org/drawingml/2006/main">
              <a:ext uri="{FF2B5EF4-FFF2-40B4-BE49-F238E27FC236}">
                <a16:creationId xmlns:a16="http://schemas.microsoft.com/office/drawing/2014/main" id="{8A675E36-84FE-4EFD-BF37-A3FF697E570E}"/>
              </a:ext>
            </a:extLst>
          </p:cNvPr>
          <p:cNvSpPr>
            <a:spLocks xmlns:a="http://schemas.openxmlformats.org/drawingml/2006/main" noGrp="1"/>
          </p:cNvSpPr>
          <p:nvPr/>
        </p:nvSpPr>
        <p:spPr>
          <a:xfrm xmlns:a="http://schemas.openxmlformats.org/drawingml/2006/main">
            <a:off x="609600" y="4838700"/>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Delivery</a:t>
            </a:r>
          </a:p>
        </p:txBody>
      </p:sp>
      <p:sp>
        <p:nvSpPr>
          <p:cNvPr id="11" name="">
            <a:extLst xmlns:a="http://schemas.openxmlformats.org/drawingml/2006/main">
              <a:ext uri="{FF2B5EF4-FFF2-40B4-BE49-F238E27FC236}">
                <a16:creationId xmlns:a16="http://schemas.microsoft.com/office/drawing/2014/main" id="{2C778BC8-B764-454C-9161-5494F557EE87}"/>
              </a:ext>
            </a:extLst>
          </p:cNvPr>
          <p:cNvSpPr>
            <a:spLocks xmlns:a="http://schemas.openxmlformats.org/drawingml/2006/main" noGrp="1"/>
          </p:cNvSpPr>
          <p:nvPr/>
        </p:nvSpPr>
        <p:spPr>
          <a:xfrm xmlns:a="http://schemas.openxmlformats.org/drawingml/2006/main">
            <a:off x="3276600" y="4838700"/>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Reviewed changes leave the environment through the normal PR process.</a:t>
            </a:r>
          </a:p>
        </p:txBody>
      </p:sp>
    </p:spTree>
    <p:extLst>
      <p:ext uri="{BB962C8B-B14F-4D97-AF65-F5344CB8AC3E}">
        <p14:creationId xmlns:p14="http://schemas.microsoft.com/office/powerpoint/2010/main" val="61289149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B1829A0-A089-409E-9A4A-502EDC60FD6A}"/>
              </a:ext>
            </a:extLst>
          </p:cNvPr>
          <p:cNvSpPr>
            <a:spLocks xmlns:a="http://schemas.openxmlformats.org/drawingml/2006/main" noGrp="1"/>
          </p:cNvSpPr>
          <p:nvPr/>
        </p:nvSpPr>
        <p:spPr>
          <a:xfrm xmlns:a="http://schemas.openxmlformats.org/drawingml/2006/main">
            <a:off x="609600" y="457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2B3A"/>
                </a:solidFill>
                <a:latin typeface="Helvetica Neue"/>
                <a:ea typeface="Helvetica Neue"/>
                <a:cs typeface="Helvetica Neue"/>
              </a:defRPr>
            </a:pPr>
            <a:r>
              <a:rPr sz="3300" b="1">
                <a:solidFill>
                  <a:srgbClr val="182B3A"/>
                </a:solidFill>
                <a:latin typeface="Helvetica Neue"/>
                <a:ea typeface="Helvetica Neue"/>
                <a:cs typeface="Helvetica Neue"/>
              </a:rPr>
              <a:t>MCP crosses another trust boundary</a:t>
            </a:r>
          </a:p>
        </p:txBody>
      </p:sp>
      <p:sp>
        <p:nvSpPr>
          <p:cNvPr id="2" name="">
            <a:extLst xmlns:a="http://schemas.openxmlformats.org/drawingml/2006/main">
              <a:ext uri="{FF2B5EF4-FFF2-40B4-BE49-F238E27FC236}">
                <a16:creationId xmlns:a16="http://schemas.microsoft.com/office/drawing/2014/main" id="{A5AAD685-1C8A-4399-9B4B-4AFFB30DF8C0}"/>
              </a:ext>
            </a:extLst>
          </p:cNvPr>
          <p:cNvSpPr>
            <a:spLocks xmlns:a="http://schemas.openxmlformats.org/drawingml/2006/main" noGrp="1"/>
          </p:cNvSpPr>
          <p:nvPr/>
        </p:nvSpPr>
        <p:spPr>
          <a:xfrm xmlns:a="http://schemas.openxmlformats.org/drawingml/2006/main">
            <a:off x="609600" y="63817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75"/>
                </a:solidFill>
                <a:latin typeface="Helvetica Neue"/>
                <a:ea typeface="Helvetica Neue"/>
                <a:cs typeface="Helvetica Neue"/>
              </a:defRPr>
            </a:pPr>
            <a:r>
              <a:rPr sz="1200" b="0">
                <a:solidFill>
                  <a:srgbClr val="566675"/>
                </a:solidFill>
                <a:latin typeface="Helvetica Neue"/>
                <a:ea typeface="Helvetica Neue"/>
                <a:cs typeface="Helvetica Neue"/>
              </a:rPr>
              <a:t>Session 3  /  Sandboxing</a:t>
            </a:r>
          </a:p>
        </p:txBody>
      </p:sp>
      <p:sp>
        <p:nvSpPr>
          <p:cNvPr id="3" name="">
            <a:extLst xmlns:a="http://schemas.openxmlformats.org/drawingml/2006/main">
              <a:ext uri="{FF2B5EF4-FFF2-40B4-BE49-F238E27FC236}">
                <a16:creationId xmlns:a16="http://schemas.microsoft.com/office/drawing/2014/main" id="{3D5C8792-D7F7-4985-9192-5B1A800D2DE5}"/>
              </a:ext>
            </a:extLst>
          </p:cNvPr>
          <p:cNvSpPr>
            <a:spLocks xmlns:a="http://schemas.openxmlformats.org/drawingml/2006/main" noGrp="1"/>
          </p:cNvSpPr>
          <p:nvPr/>
        </p:nvSpPr>
        <p:spPr>
          <a:xfrm xmlns:a="http://schemas.openxmlformats.org/drawingml/2006/main">
            <a:off x="110109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75"/>
                </a:solidFill>
                <a:latin typeface="Helvetica Neue"/>
                <a:ea typeface="Helvetica Neue"/>
                <a:cs typeface="Helvetica Neue"/>
              </a:defRPr>
            </a:pPr>
            <a:r>
              <a:rPr sz="1200" b="0">
                <a:solidFill>
                  <a:srgbClr val="566675"/>
                </a:solidFill>
                <a:latin typeface="Helvetica Neue"/>
                <a:ea typeface="Helvetica Neue"/>
                <a:cs typeface="Helvetica Neue"/>
              </a:rPr>
              <a:t>20</a:t>
            </a:r>
          </a:p>
        </p:txBody>
      </p:sp>
      <p:graphicFrame>
        <p:nvGraphicFramePr>
          <p:cNvPr id="8" name=""/>
          <p:cNvGraphicFramePr/>
          <p:nvPr/>
        </p:nvGraphicFramePr>
        <p:xfrm>
          <a:off xmlns:a="http://schemas.openxmlformats.org/drawingml/2006/main" x="609600" y="1752600"/>
          <a:ext xmlns:a="http://schemas.openxmlformats.org/drawingml/2006/main" cx="10972800" cy="3667125"/>
        </p:xfrm>
        <a:graphic xmlns:a="http://schemas.openxmlformats.org/drawingml/2006/main">
          <a:graphicData uri="http://schemas.openxmlformats.org/drawingml/2006/table">
            <a:tbl>
              <a:tblPr/>
              <a:tblGrid>
                <a:gridCol w="3238500"/>
                <a:gridCol w="7734300"/>
              </a:tblGrid>
              <a:tr h="733425">
                <a:tc>
                  <a:txBody>
                    <a:bodyPr/>
                    <a:lstStyle/>
                    <a:p>
                      <a:r>
                        <a:rPr sz="1950" b="1">
                          <a:solidFill>
                            <a:srgbClr val="182B3A"/>
                          </a:solidFill>
                          <a:latin typeface="Helvetica Neue"/>
                          <a:ea typeface="Helvetica Neue"/>
                          <a:cs typeface="Helvetica Neue"/>
                        </a:rPr>
                        <a:t>Component</a:t>
                      </a:r>
                    </a:p>
                  </a:txBody>
                  <a:tcPr marL="91440" marR="91440" marT="45720" marB="45720">
                    <a:solidFill>
                      <a:srgbClr val="EAF1F3"/>
                    </a:solidFill>
                  </a:tcPr>
                </a:tc>
                <a:tc>
                  <a:txBody>
                    <a:bodyPr/>
                    <a:lstStyle/>
                    <a:p>
                      <a:r>
                        <a:rPr sz="1950" b="1">
                          <a:solidFill>
                            <a:srgbClr val="182B3A"/>
                          </a:solidFill>
                          <a:latin typeface="Helvetica Neue"/>
                          <a:ea typeface="Helvetica Neue"/>
                          <a:cs typeface="Helvetica Neue"/>
                        </a:rPr>
                        <a:t>Control to apply</a:t>
                      </a:r>
                    </a:p>
                  </a:txBody>
                  <a:tcPr marL="91440" marR="91440" marT="45720" marB="45720">
                    <a:solidFill>
                      <a:srgbClr val="EAF1F3"/>
                    </a:solidFill>
                  </a:tcPr>
                </a:tc>
              </a:tr>
              <a:tr h="733425">
                <a:tc>
                  <a:txBody>
                    <a:bodyPr/>
                    <a:lstStyle/>
                    <a:p>
                      <a:r>
                        <a:rPr sz="1950" b="0">
                          <a:solidFill>
                            <a:srgbClr val="182B3A"/>
                          </a:solidFill>
                          <a:latin typeface="Helvetica Neue"/>
                          <a:ea typeface="Helvetica Neue"/>
                          <a:cs typeface="Helvetica Neue"/>
                        </a:rPr>
                        <a:t>Local MCP server</a:t>
                      </a:r>
                    </a:p>
                  </a:txBody>
                  <a:tcPr marL="91440" marR="91440" marT="45720" marB="45720">
                    <a:solidFill>
                      <a:srgbClr val="FFFFFF"/>
                    </a:solidFill>
                  </a:tcPr>
                </a:tc>
                <a:tc>
                  <a:txBody>
                    <a:bodyPr/>
                    <a:lstStyle/>
                    <a:p>
                      <a:r>
                        <a:rPr sz="1950" b="0">
                          <a:solidFill>
                            <a:srgbClr val="182B3A"/>
                          </a:solidFill>
                          <a:latin typeface="Helvetica Neue"/>
                          <a:ea typeface="Helvetica Neue"/>
                          <a:cs typeface="Helvetica Neue"/>
                        </a:rPr>
                        <a:t>Run the process inside the environment boundary</a:t>
                      </a:r>
                    </a:p>
                  </a:txBody>
                  <a:tcPr marL="91440" marR="91440" marT="45720" marB="45720">
                    <a:solidFill>
                      <a:srgbClr val="FFFFFF"/>
                    </a:solidFill>
                  </a:tcPr>
                </a:tc>
              </a:tr>
              <a:tr h="733425">
                <a:tc>
                  <a:txBody>
                    <a:bodyPr/>
                    <a:lstStyle/>
                    <a:p>
                      <a:r>
                        <a:rPr sz="1950" b="0">
                          <a:solidFill>
                            <a:srgbClr val="182B3A"/>
                          </a:solidFill>
                          <a:latin typeface="Helvetica Neue"/>
                          <a:ea typeface="Helvetica Neue"/>
                          <a:cs typeface="Helvetica Neue"/>
                        </a:rPr>
                        <a:t>Remote MCP server</a:t>
                      </a:r>
                    </a:p>
                  </a:txBody>
                  <a:tcPr marL="91440" marR="91440" marT="45720" marB="45720">
                    <a:solidFill>
                      <a:srgbClr val="FFFFFF"/>
                    </a:solidFill>
                  </a:tcPr>
                </a:tc>
                <a:tc>
                  <a:txBody>
                    <a:bodyPr/>
                    <a:lstStyle/>
                    <a:p>
                      <a:r>
                        <a:rPr sz="1950" b="0">
                          <a:solidFill>
                            <a:srgbClr val="182B3A"/>
                          </a:solidFill>
                          <a:latin typeface="Helvetica Neue"/>
                          <a:ea typeface="Helvetica Neue"/>
                          <a:cs typeface="Helvetica Neue"/>
                        </a:rPr>
                        <a:t>Limit the server set and its authenticated identity</a:t>
                      </a:r>
                    </a:p>
                  </a:txBody>
                  <a:tcPr marL="91440" marR="91440" marT="45720" marB="45720">
                    <a:solidFill>
                      <a:srgbClr val="FFFFFF"/>
                    </a:solidFill>
                  </a:tcPr>
                </a:tc>
              </a:tr>
              <a:tr h="733425">
                <a:tc>
                  <a:txBody>
                    <a:bodyPr/>
                    <a:lstStyle/>
                    <a:p>
                      <a:r>
                        <a:rPr sz="1950" b="0">
                          <a:solidFill>
                            <a:srgbClr val="182B3A"/>
                          </a:solidFill>
                          <a:latin typeface="Helvetica Neue"/>
                          <a:ea typeface="Helvetica Neue"/>
                          <a:cs typeface="Helvetica Neue"/>
                        </a:rPr>
                        <a:t>Remote tool action</a:t>
                      </a:r>
                    </a:p>
                  </a:txBody>
                  <a:tcPr marL="91440" marR="91440" marT="45720" marB="45720">
                    <a:solidFill>
                      <a:srgbClr val="FFFFFF"/>
                    </a:solidFill>
                  </a:tcPr>
                </a:tc>
                <a:tc>
                  <a:txBody>
                    <a:bodyPr/>
                    <a:lstStyle/>
                    <a:p>
                      <a:r>
                        <a:rPr sz="1950" b="0">
                          <a:solidFill>
                            <a:srgbClr val="182B3A"/>
                          </a:solidFill>
                          <a:latin typeface="Helvetica Neue"/>
                          <a:ea typeface="Helvetica Neue"/>
                          <a:cs typeface="Helvetica Neue"/>
                        </a:rPr>
                        <a:t>Enforce scope and authorization at the service</a:t>
                      </a:r>
                    </a:p>
                  </a:txBody>
                  <a:tcPr marL="91440" marR="91440" marT="45720" marB="45720">
                    <a:solidFill>
                      <a:srgbClr val="FFFFFF"/>
                    </a:solidFill>
                  </a:tcPr>
                </a:tc>
              </a:tr>
              <a:tr h="733425">
                <a:tc>
                  <a:txBody>
                    <a:bodyPr/>
                    <a:lstStyle/>
                    <a:p>
                      <a:r>
                        <a:rPr sz="1950" b="0">
                          <a:solidFill>
                            <a:srgbClr val="182B3A"/>
                          </a:solidFill>
                          <a:latin typeface="Helvetica Neue"/>
                          <a:ea typeface="Helvetica Neue"/>
                          <a:cs typeface="Helvetica Neue"/>
                        </a:rPr>
                        <a:t>Own application agent</a:t>
                      </a:r>
                    </a:p>
                  </a:txBody>
                  <a:tcPr marL="91440" marR="91440" marT="45720" marB="45720">
                    <a:solidFill>
                      <a:srgbClr val="FFFFFF"/>
                    </a:solidFill>
                  </a:tcPr>
                </a:tc>
                <a:tc>
                  <a:txBody>
                    <a:bodyPr/>
                    <a:lstStyle/>
                    <a:p>
                      <a:r>
                        <a:rPr sz="1950" b="0">
                          <a:solidFill>
                            <a:srgbClr val="182B3A"/>
                          </a:solidFill>
                          <a:latin typeface="Helvetica Neue"/>
                          <a:ea typeface="Helvetica Neue"/>
                          <a:cs typeface="Helvetica Neue"/>
                        </a:rPr>
                        <a:t>Define its own tool permissions and approval rules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201740394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1F62271-577C-4A54-AB72-77890D941DB2}"/>
              </a:ext>
            </a:extLst>
          </p:cNvPr>
          <p:cNvSpPr>
            <a:spLocks xmlns:a="http://schemas.openxmlformats.org/drawingml/2006/main" noGrp="1"/>
          </p:cNvSpPr>
          <p:nvPr/>
        </p:nvSpPr>
        <p:spPr>
          <a:xfrm xmlns:a="http://schemas.openxmlformats.org/drawingml/2006/main">
            <a:off x="609600" y="457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2B3A"/>
                </a:solidFill>
                <a:latin typeface="Helvetica Neue"/>
                <a:ea typeface="Helvetica Neue"/>
                <a:cs typeface="Helvetica Neue"/>
              </a:defRPr>
            </a:pPr>
            <a:r>
              <a:rPr sz="3300" b="1">
                <a:solidFill>
                  <a:srgbClr val="182B3A"/>
                </a:solidFill>
                <a:latin typeface="Helvetica Neue"/>
                <a:ea typeface="Helvetica Neue"/>
                <a:cs typeface="Helvetica Neue"/>
              </a:rPr>
              <a:t>Demo 3: one boundary, two tools</a:t>
            </a:r>
          </a:p>
        </p:txBody>
      </p:sp>
      <p:sp>
        <p:nvSpPr>
          <p:cNvPr id="2" name="">
            <a:extLst xmlns:a="http://schemas.openxmlformats.org/drawingml/2006/main">
              <a:ext uri="{FF2B5EF4-FFF2-40B4-BE49-F238E27FC236}">
                <a16:creationId xmlns:a16="http://schemas.microsoft.com/office/drawing/2014/main" id="{F1F50614-F0B7-4C66-9C75-3A09E82C9A0A}"/>
              </a:ext>
            </a:extLst>
          </p:cNvPr>
          <p:cNvSpPr>
            <a:spLocks xmlns:a="http://schemas.openxmlformats.org/drawingml/2006/main" noGrp="1"/>
          </p:cNvSpPr>
          <p:nvPr/>
        </p:nvSpPr>
        <p:spPr>
          <a:xfrm xmlns:a="http://schemas.openxmlformats.org/drawingml/2006/main">
            <a:off x="609600" y="63817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75"/>
                </a:solidFill>
                <a:latin typeface="Helvetica Neue"/>
                <a:ea typeface="Helvetica Neue"/>
                <a:cs typeface="Helvetica Neue"/>
              </a:defRPr>
            </a:pPr>
            <a:r>
              <a:rPr sz="1200" b="0">
                <a:solidFill>
                  <a:srgbClr val="566675"/>
                </a:solidFill>
                <a:latin typeface="Helvetica Neue"/>
                <a:ea typeface="Helvetica Neue"/>
                <a:cs typeface="Helvetica Neue"/>
              </a:rPr>
              <a:t>Session 3  /  Sandboxing</a:t>
            </a:r>
          </a:p>
        </p:txBody>
      </p:sp>
      <p:sp>
        <p:nvSpPr>
          <p:cNvPr id="3" name="">
            <a:extLst xmlns:a="http://schemas.openxmlformats.org/drawingml/2006/main">
              <a:ext uri="{FF2B5EF4-FFF2-40B4-BE49-F238E27FC236}">
                <a16:creationId xmlns:a16="http://schemas.microsoft.com/office/drawing/2014/main" id="{271D6B4F-CFC9-41C8-A61E-45DA4C119D1A}"/>
              </a:ext>
            </a:extLst>
          </p:cNvPr>
          <p:cNvSpPr>
            <a:spLocks xmlns:a="http://schemas.openxmlformats.org/drawingml/2006/main" noGrp="1"/>
          </p:cNvSpPr>
          <p:nvPr/>
        </p:nvSpPr>
        <p:spPr>
          <a:xfrm xmlns:a="http://schemas.openxmlformats.org/drawingml/2006/main">
            <a:off x="110109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75"/>
                </a:solidFill>
                <a:latin typeface="Helvetica Neue"/>
                <a:ea typeface="Helvetica Neue"/>
                <a:cs typeface="Helvetica Neue"/>
              </a:defRPr>
            </a:pPr>
            <a:r>
              <a:rPr sz="1200" b="0">
                <a:solidFill>
                  <a:srgbClr val="566675"/>
                </a:solidFill>
                <a:latin typeface="Helvetica Neue"/>
                <a:ea typeface="Helvetica Neue"/>
                <a:cs typeface="Helvetica Neue"/>
              </a:rPr>
              <a:t>21</a:t>
            </a:r>
          </a:p>
        </p:txBody>
      </p:sp>
      <p:sp>
        <p:nvSpPr>
          <p:cNvPr id="4" name="">
            <a:extLst xmlns:a="http://schemas.openxmlformats.org/drawingml/2006/main">
              <a:ext uri="{FF2B5EF4-FFF2-40B4-BE49-F238E27FC236}">
                <a16:creationId xmlns:a16="http://schemas.microsoft.com/office/drawing/2014/main" id="{BB7E5E07-FA64-48C6-8609-DAFDDF5A048E}"/>
              </a:ext>
            </a:extLst>
          </p:cNvPr>
          <p:cNvSpPr>
            <a:spLocks xmlns:a="http://schemas.openxmlformats.org/drawingml/2006/main" noGrp="1"/>
          </p:cNvSpPr>
          <p:nvPr/>
        </p:nvSpPr>
        <p:spPr>
          <a:xfrm xmlns:a="http://schemas.openxmlformats.org/drawingml/2006/main">
            <a:off x="609600" y="1752600"/>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Setup</a:t>
            </a:r>
          </a:p>
        </p:txBody>
      </p:sp>
      <p:sp>
        <p:nvSpPr>
          <p:cNvPr id="5" name="">
            <a:extLst xmlns:a="http://schemas.openxmlformats.org/drawingml/2006/main">
              <a:ext uri="{FF2B5EF4-FFF2-40B4-BE49-F238E27FC236}">
                <a16:creationId xmlns:a16="http://schemas.microsoft.com/office/drawing/2014/main" id="{419AE445-A407-48DA-9C6D-F0749C59C7F1}"/>
              </a:ext>
            </a:extLst>
          </p:cNvPr>
          <p:cNvSpPr>
            <a:spLocks xmlns:a="http://schemas.openxmlformats.org/drawingml/2006/main" noGrp="1"/>
          </p:cNvSpPr>
          <p:nvPr/>
        </p:nvSpPr>
        <p:spPr>
          <a:xfrm xmlns:a="http://schemas.openxmlformats.org/drawingml/2006/main">
            <a:off x="3276600" y="1752600"/>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Read-only container root + one writable workspace.</a:t>
            </a:r>
          </a:p>
        </p:txBody>
      </p:sp>
      <p:sp>
        <p:nvSpPr>
          <p:cNvPr id="6" name="">
            <a:extLst xmlns:a="http://schemas.openxmlformats.org/drawingml/2006/main">
              <a:ext uri="{FF2B5EF4-FFF2-40B4-BE49-F238E27FC236}">
                <a16:creationId xmlns:a16="http://schemas.microsoft.com/office/drawing/2014/main" id="{D047542A-023B-47AB-8111-EFBE6C14DA80}"/>
              </a:ext>
            </a:extLst>
          </p:cNvPr>
          <p:cNvSpPr>
            <a:spLocks xmlns:a="http://schemas.openxmlformats.org/drawingml/2006/main" noGrp="1"/>
          </p:cNvSpPr>
          <p:nvPr/>
        </p:nvSpPr>
        <p:spPr>
          <a:xfrm xmlns:a="http://schemas.openxmlformats.org/drawingml/2006/main">
            <a:off x="609600" y="2781300"/>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Action</a:t>
            </a:r>
          </a:p>
        </p:txBody>
      </p:sp>
      <p:sp>
        <p:nvSpPr>
          <p:cNvPr id="7" name="">
            <a:extLst xmlns:a="http://schemas.openxmlformats.org/drawingml/2006/main">
              <a:ext uri="{FF2B5EF4-FFF2-40B4-BE49-F238E27FC236}">
                <a16:creationId xmlns:a16="http://schemas.microsoft.com/office/drawing/2014/main" id="{097A4782-D5D7-40D7-9664-0A0B829788A2}"/>
              </a:ext>
            </a:extLst>
          </p:cNvPr>
          <p:cNvSpPr>
            <a:spLocks xmlns:a="http://schemas.openxmlformats.org/drawingml/2006/main" noGrp="1"/>
          </p:cNvSpPr>
          <p:nvPr/>
        </p:nvSpPr>
        <p:spPr>
          <a:xfrm xmlns:a="http://schemas.openxmlformats.org/drawingml/2006/main">
            <a:off x="3276600" y="2781300"/>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A shell and Python each write to the workspace and to /opt.</a:t>
            </a:r>
          </a:p>
        </p:txBody>
      </p:sp>
      <p:sp>
        <p:nvSpPr>
          <p:cNvPr id="8" name="">
            <a:extLst xmlns:a="http://schemas.openxmlformats.org/drawingml/2006/main">
              <a:ext uri="{FF2B5EF4-FFF2-40B4-BE49-F238E27FC236}">
                <a16:creationId xmlns:a16="http://schemas.microsoft.com/office/drawing/2014/main" id="{0CD5F5F4-E007-4740-B4F1-FF77F9F3E7AB}"/>
              </a:ext>
            </a:extLst>
          </p:cNvPr>
          <p:cNvSpPr>
            <a:spLocks xmlns:a="http://schemas.openxmlformats.org/drawingml/2006/main" noGrp="1"/>
          </p:cNvSpPr>
          <p:nvPr/>
        </p:nvSpPr>
        <p:spPr>
          <a:xfrm xmlns:a="http://schemas.openxmlformats.org/drawingml/2006/main">
            <a:off x="609600" y="3810000"/>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Expected</a:t>
            </a:r>
          </a:p>
        </p:txBody>
      </p:sp>
      <p:sp>
        <p:nvSpPr>
          <p:cNvPr id="9" name="">
            <a:extLst xmlns:a="http://schemas.openxmlformats.org/drawingml/2006/main">
              <a:ext uri="{FF2B5EF4-FFF2-40B4-BE49-F238E27FC236}">
                <a16:creationId xmlns:a16="http://schemas.microsoft.com/office/drawing/2014/main" id="{41D8A6FE-A19E-46CD-8B33-EC76D4EDF9F7}"/>
              </a:ext>
            </a:extLst>
          </p:cNvPr>
          <p:cNvSpPr>
            <a:spLocks xmlns:a="http://schemas.openxmlformats.org/drawingml/2006/main" noGrp="1"/>
          </p:cNvSpPr>
          <p:nvPr/>
        </p:nvSpPr>
        <p:spPr>
          <a:xfrm xmlns:a="http://schemas.openxmlformats.org/drawingml/2006/main">
            <a:off x="3276600" y="3810000"/>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Both tools succeed in the workspace and fail outside it.</a:t>
            </a:r>
          </a:p>
        </p:txBody>
      </p:sp>
      <p:sp>
        <p:nvSpPr>
          <p:cNvPr id="10" name="">
            <a:extLst xmlns:a="http://schemas.openxmlformats.org/drawingml/2006/main">
              <a:ext uri="{FF2B5EF4-FFF2-40B4-BE49-F238E27FC236}">
                <a16:creationId xmlns:a16="http://schemas.microsoft.com/office/drawing/2014/main" id="{F1425633-52A8-4430-BFF2-077C9BB60257}"/>
              </a:ext>
            </a:extLst>
          </p:cNvPr>
          <p:cNvSpPr>
            <a:spLocks xmlns:a="http://schemas.openxmlformats.org/drawingml/2006/main" noGrp="1"/>
          </p:cNvSpPr>
          <p:nvPr/>
        </p:nvSpPr>
        <p:spPr>
          <a:xfrm xmlns:a="http://schemas.openxmlformats.org/drawingml/2006/main">
            <a:off x="609600" y="4838700"/>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One lesson</a:t>
            </a:r>
          </a:p>
        </p:txBody>
      </p:sp>
      <p:sp>
        <p:nvSpPr>
          <p:cNvPr id="11" name="">
            <a:extLst xmlns:a="http://schemas.openxmlformats.org/drawingml/2006/main">
              <a:ext uri="{FF2B5EF4-FFF2-40B4-BE49-F238E27FC236}">
                <a16:creationId xmlns:a16="http://schemas.microsoft.com/office/drawing/2014/main" id="{C2159C05-2622-49C5-8B20-A30B848AAA9B}"/>
              </a:ext>
            </a:extLst>
          </p:cNvPr>
          <p:cNvSpPr>
            <a:spLocks xmlns:a="http://schemas.openxmlformats.org/drawingml/2006/main" noGrp="1"/>
          </p:cNvSpPr>
          <p:nvPr/>
        </p:nvSpPr>
        <p:spPr>
          <a:xfrm xmlns:a="http://schemas.openxmlformats.org/drawingml/2006/main">
            <a:off x="3276600" y="4838700"/>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The infrastructure boundary survives a change of tool.</a:t>
            </a:r>
          </a:p>
        </p:txBody>
      </p:sp>
    </p:spTree>
    <p:extLst>
      <p:ext uri="{BB962C8B-B14F-4D97-AF65-F5344CB8AC3E}">
        <p14:creationId xmlns:p14="http://schemas.microsoft.com/office/powerpoint/2010/main" val="118261458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D00316B-3B9E-4F01-896B-2E82563C2CC7}"/>
              </a:ext>
            </a:extLst>
          </p:cNvPr>
          <p:cNvSpPr>
            <a:spLocks xmlns:a="http://schemas.openxmlformats.org/drawingml/2006/main" noGrp="1"/>
          </p:cNvSpPr>
          <p:nvPr/>
        </p:nvSpPr>
        <p:spPr>
          <a:xfrm xmlns:a="http://schemas.openxmlformats.org/drawingml/2006/main">
            <a:off x="609600" y="4572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2B3A"/>
                </a:solidFill>
                <a:latin typeface="Helvetica Neue"/>
                <a:ea typeface="Helvetica Neue"/>
                <a:cs typeface="Helvetica Neue"/>
              </a:defRPr>
            </a:pPr>
            <a:r>
              <a:rPr sz="3300" b="1">
                <a:solidFill>
                  <a:srgbClr val="182B3A"/>
                </a:solidFill>
                <a:latin typeface="Helvetica Neue"/>
                <a:ea typeface="Helvetica Neue"/>
                <a:cs typeface="Helvetica Neue"/>
              </a:rPr>
              <a:t>What I want you to take away</a:t>
            </a:r>
          </a:p>
        </p:txBody>
      </p:sp>
      <p:sp>
        <p:nvSpPr>
          <p:cNvPr id="2" name="">
            <a:extLst xmlns:a="http://schemas.openxmlformats.org/drawingml/2006/main">
              <a:ext uri="{FF2B5EF4-FFF2-40B4-BE49-F238E27FC236}">
                <a16:creationId xmlns:a16="http://schemas.microsoft.com/office/drawing/2014/main" id="{F218C3E8-360B-42B0-9611-7F8B883B2CF5}"/>
              </a:ext>
            </a:extLst>
          </p:cNvPr>
          <p:cNvSpPr>
            <a:spLocks xmlns:a="http://schemas.openxmlformats.org/drawingml/2006/main" noGrp="1"/>
          </p:cNvSpPr>
          <p:nvPr/>
        </p:nvSpPr>
        <p:spPr>
          <a:xfrm xmlns:a="http://schemas.openxmlformats.org/drawingml/2006/main">
            <a:off x="609600" y="63817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75"/>
                </a:solidFill>
                <a:latin typeface="Helvetica Neue"/>
                <a:ea typeface="Helvetica Neue"/>
                <a:cs typeface="Helvetica Neue"/>
              </a:defRPr>
            </a:pPr>
            <a:r>
              <a:rPr sz="1200" b="0">
                <a:solidFill>
                  <a:srgbClr val="566675"/>
                </a:solidFill>
                <a:latin typeface="Helvetica Neue"/>
                <a:ea typeface="Helvetica Neue"/>
                <a:cs typeface="Helvetica Neue"/>
              </a:rPr>
              <a:t>Session 3  /  Sandboxing</a:t>
            </a:r>
          </a:p>
        </p:txBody>
      </p:sp>
      <p:sp>
        <p:nvSpPr>
          <p:cNvPr id="3" name="">
            <a:extLst xmlns:a="http://schemas.openxmlformats.org/drawingml/2006/main">
              <a:ext uri="{FF2B5EF4-FFF2-40B4-BE49-F238E27FC236}">
                <a16:creationId xmlns:a16="http://schemas.microsoft.com/office/drawing/2014/main" id="{0DAF1617-6076-4A80-AB4F-A534BCDE5AE8}"/>
              </a:ext>
            </a:extLst>
          </p:cNvPr>
          <p:cNvSpPr>
            <a:spLocks xmlns:a="http://schemas.openxmlformats.org/drawingml/2006/main" noGrp="1"/>
          </p:cNvSpPr>
          <p:nvPr/>
        </p:nvSpPr>
        <p:spPr>
          <a:xfrm xmlns:a="http://schemas.openxmlformats.org/drawingml/2006/main">
            <a:off x="110109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675"/>
                </a:solidFill>
                <a:latin typeface="Helvetica Neue"/>
                <a:ea typeface="Helvetica Neue"/>
                <a:cs typeface="Helvetica Neue"/>
              </a:defRPr>
            </a:pPr>
            <a:r>
              <a:rPr sz="1200" b="0">
                <a:solidFill>
                  <a:srgbClr val="566675"/>
                </a:solidFill>
                <a:latin typeface="Helvetica Neue"/>
                <a:ea typeface="Helvetica Neue"/>
                <a:cs typeface="Helvetica Neue"/>
              </a:rPr>
              <a:t>22</a:t>
            </a:r>
          </a:p>
        </p:txBody>
      </p:sp>
      <p:sp>
        <p:nvSpPr>
          <p:cNvPr id="4" name="">
            <a:extLst xmlns:a="http://schemas.openxmlformats.org/drawingml/2006/main">
              <a:ext uri="{FF2B5EF4-FFF2-40B4-BE49-F238E27FC236}">
                <a16:creationId xmlns:a16="http://schemas.microsoft.com/office/drawing/2014/main" id="{BE615E1F-10CF-4FFC-964C-CAFE234AFF62}"/>
              </a:ext>
            </a:extLst>
          </p:cNvPr>
          <p:cNvSpPr>
            <a:spLocks xmlns:a="http://schemas.openxmlformats.org/drawingml/2006/main" noGrp="1"/>
          </p:cNvSpPr>
          <p:nvPr/>
        </p:nvSpPr>
        <p:spPr>
          <a:xfrm xmlns:a="http://schemas.openxmlformats.org/drawingml/2006/main">
            <a:off x="609600" y="1752600"/>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Know the features</a:t>
            </a:r>
          </a:p>
        </p:txBody>
      </p:sp>
      <p:sp>
        <p:nvSpPr>
          <p:cNvPr id="5" name="">
            <a:extLst xmlns:a="http://schemas.openxmlformats.org/drawingml/2006/main">
              <a:ext uri="{FF2B5EF4-FFF2-40B4-BE49-F238E27FC236}">
                <a16:creationId xmlns:a16="http://schemas.microsoft.com/office/drawing/2014/main" id="{9D8F84D1-35C5-4395-BDCC-969C496D16BB}"/>
              </a:ext>
            </a:extLst>
          </p:cNvPr>
          <p:cNvSpPr>
            <a:spLocks xmlns:a="http://schemas.openxmlformats.org/drawingml/2006/main" noGrp="1"/>
          </p:cNvSpPr>
          <p:nvPr/>
        </p:nvSpPr>
        <p:spPr>
          <a:xfrm xmlns:a="http://schemas.openxmlformats.org/drawingml/2006/main">
            <a:off x="3276600" y="1752600"/>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Claude Code has substantial controls, with explicit scope and exceptions.</a:t>
            </a:r>
          </a:p>
        </p:txBody>
      </p:sp>
      <p:sp>
        <p:nvSpPr>
          <p:cNvPr id="6" name="">
            <a:extLst xmlns:a="http://schemas.openxmlformats.org/drawingml/2006/main">
              <a:ext uri="{FF2B5EF4-FFF2-40B4-BE49-F238E27FC236}">
                <a16:creationId xmlns:a16="http://schemas.microsoft.com/office/drawing/2014/main" id="{DD5B7BF1-AF07-47B0-9AE5-D9D1106FA543}"/>
              </a:ext>
            </a:extLst>
          </p:cNvPr>
          <p:cNvSpPr>
            <a:spLocks xmlns:a="http://schemas.openxmlformats.org/drawingml/2006/main" noGrp="1"/>
          </p:cNvSpPr>
          <p:nvPr/>
        </p:nvSpPr>
        <p:spPr>
          <a:xfrm xmlns:a="http://schemas.openxmlformats.org/drawingml/2006/main">
            <a:off x="609600" y="2933700"/>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Delegate configuration</a:t>
            </a:r>
          </a:p>
        </p:txBody>
      </p:sp>
      <p:sp>
        <p:nvSpPr>
          <p:cNvPr id="7" name="">
            <a:extLst xmlns:a="http://schemas.openxmlformats.org/drawingml/2006/main">
              <a:ext uri="{FF2B5EF4-FFF2-40B4-BE49-F238E27FC236}">
                <a16:creationId xmlns:a16="http://schemas.microsoft.com/office/drawing/2014/main" id="{441875FB-BF15-4F32-981B-2387E67F40C3}"/>
              </a:ext>
            </a:extLst>
          </p:cNvPr>
          <p:cNvSpPr>
            <a:spLocks xmlns:a="http://schemas.openxmlformats.org/drawingml/2006/main" noGrp="1"/>
          </p:cNvSpPr>
          <p:nvPr/>
        </p:nvSpPr>
        <p:spPr>
          <a:xfrm xmlns:a="http://schemas.openxmlformats.org/drawingml/2006/main">
            <a:off x="3276600" y="2933700"/>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Ask Claude for a reviewed, documented and tested proposal.</a:t>
            </a:r>
          </a:p>
        </p:txBody>
      </p:sp>
      <p:sp>
        <p:nvSpPr>
          <p:cNvPr id="8" name="">
            <a:extLst xmlns:a="http://schemas.openxmlformats.org/drawingml/2006/main">
              <a:ext uri="{FF2B5EF4-FFF2-40B4-BE49-F238E27FC236}">
                <a16:creationId xmlns:a16="http://schemas.microsoft.com/office/drawing/2014/main" id="{989FC7B8-13EF-41BD-9EC2-B650C48CDFDD}"/>
              </a:ext>
            </a:extLst>
          </p:cNvPr>
          <p:cNvSpPr>
            <a:spLocks xmlns:a="http://schemas.openxmlformats.org/drawingml/2006/main" noGrp="1"/>
          </p:cNvSpPr>
          <p:nvPr/>
        </p:nvSpPr>
        <p:spPr>
          <a:xfrm xmlns:a="http://schemas.openxmlformats.org/drawingml/2006/main">
            <a:off x="609600" y="4114800"/>
            <a:ext cx="2428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26D77"/>
                </a:solidFill>
                <a:latin typeface="Helvetica Neue"/>
                <a:ea typeface="Helvetica Neue"/>
                <a:cs typeface="Helvetica Neue"/>
              </a:defRPr>
            </a:pPr>
            <a:r>
              <a:rPr sz="2100" b="1">
                <a:solidFill>
                  <a:srgbClr val="126D77"/>
                </a:solidFill>
                <a:latin typeface="Helvetica Neue"/>
                <a:ea typeface="Helvetica Neue"/>
                <a:cs typeface="Helvetica Neue"/>
              </a:rPr>
              <a:t>Own the boundary</a:t>
            </a:r>
          </a:p>
        </p:txBody>
      </p:sp>
      <p:sp>
        <p:nvSpPr>
          <p:cNvPr id="9" name="">
            <a:extLst xmlns:a="http://schemas.openxmlformats.org/drawingml/2006/main">
              <a:ext uri="{FF2B5EF4-FFF2-40B4-BE49-F238E27FC236}">
                <a16:creationId xmlns:a16="http://schemas.microsoft.com/office/drawing/2014/main" id="{35F139C8-8017-4C1D-98A2-EE85FAF21DCF}"/>
              </a:ext>
            </a:extLst>
          </p:cNvPr>
          <p:cNvSpPr>
            <a:spLocks xmlns:a="http://schemas.openxmlformats.org/drawingml/2006/main" noGrp="1"/>
          </p:cNvSpPr>
          <p:nvPr/>
        </p:nvSpPr>
        <p:spPr>
          <a:xfrm xmlns:a="http://schemas.openxmlformats.org/drawingml/2006/main">
            <a:off x="3276600" y="4114800"/>
            <a:ext cx="8305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B3A"/>
                </a:solidFill>
                <a:latin typeface="Helvetica Neue"/>
                <a:ea typeface="Helvetica Neue"/>
                <a:cs typeface="Helvetica Neue"/>
              </a:defRPr>
            </a:pPr>
            <a:r>
              <a:rPr sz="2100" b="0">
                <a:solidFill>
                  <a:srgbClr val="182B3A"/>
                </a:solidFill>
                <a:latin typeface="Helvetica Neue"/>
                <a:ea typeface="Helvetica Neue"/>
                <a:cs typeface="Helvetica Neue"/>
              </a:rPr>
              <a:t>For mixed teams, I prefer containers, VMs or separate hardware.</a:t>
            </a:r>
          </a:p>
        </p:txBody>
      </p:sp>
      <p:sp>
        <p:nvSpPr>
          <p:cNvPr id="10" name="">
            <a:extLst xmlns:a="http://schemas.openxmlformats.org/drawingml/2006/main">
              <a:ext uri="{FF2B5EF4-FFF2-40B4-BE49-F238E27FC236}">
                <a16:creationId xmlns:a16="http://schemas.microsoft.com/office/drawing/2014/main" id="{96FF9C30-4F0A-4C03-A4DF-AAAD236C2BBB}"/>
              </a:ext>
            </a:extLst>
          </p:cNvPr>
          <p:cNvSpPr>
            <a:spLocks xmlns:a="http://schemas.openxmlformats.org/drawingml/2006/main" noGrp="1"/>
          </p:cNvSpPr>
          <p:nvPr/>
        </p:nvSpPr>
        <p:spPr>
          <a:xfrm xmlns:a="http://schemas.openxmlformats.org/drawingml/2006/main">
            <a:off x="609600" y="55721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66675"/>
                </a:solidFill>
                <a:latin typeface="Helvetica Neue"/>
                <a:ea typeface="Helvetica Neue"/>
                <a:cs typeface="Helvetica Neue"/>
              </a:defRPr>
            </a:pPr>
            <a:r>
              <a:rPr sz="1575" b="0">
                <a:solidFill>
                  <a:srgbClr val="566675"/>
                </a:solidFill>
                <a:latin typeface="Helvetica Neue"/>
                <a:ea typeface="Helvetica Neue"/>
                <a:cs typeface="Helvetica Neue"/>
              </a:rPr>
              <a:t>Starting points: code.claude.com/llms.txt</a:t>
            </a:r>
          </a:p>
          <a:p xmlns:a="http://schemas.openxmlformats.org/drawingml/2006/main">
            <a:pPr>
              <a:defRPr sz="1575" b="0">
                <a:solidFill>
                  <a:srgbClr val="566675"/>
                </a:solidFill>
                <a:latin typeface="Helvetica Neue"/>
                <a:ea typeface="Helvetica Neue"/>
                <a:cs typeface="Helvetica Neue"/>
              </a:defRPr>
            </a:pPr>
            <a:r>
              <a:rPr sz="1575" b="0">
                <a:solidFill>
                  <a:srgbClr val="566675"/>
                </a:solidFill>
                <a:latin typeface="Helvetica Neue"/>
                <a:ea typeface="Helvetica Neue"/>
                <a:cs typeface="Helvetica Neue"/>
              </a:rPr>
              <a:t>Docs: sandboxing · sandbox-environments · permissions · devcontainer</a:t>
            </a:r>
          </a:p>
        </p:txBody>
      </p:sp>
    </p:spTree>
    <p:extLst>
      <p:ext uri="{BB962C8B-B14F-4D97-AF65-F5344CB8AC3E}">
        <p14:creationId xmlns:p14="http://schemas.microsoft.com/office/powerpoint/2010/main" val="4009472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2026-09-13T06:39:17.0750000Z</dcterms:created>
  <dcterms:modified xsi:type="dcterms:W3CDTF">2026-09-13T06:39:17.0750000Z</dcterms:modified>
</coreProperties>
</file>